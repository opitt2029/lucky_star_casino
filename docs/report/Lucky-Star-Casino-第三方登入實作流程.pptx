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d09902ea8b4b75" /><Relationship Type="http://schemas.openxmlformats.org/officeDocument/2006/relationships/extended-properties" Target="/docProps/app.xml" Id="Raeb7f2dc24734282" /><Relationship Type="http://schemas.openxmlformats.org/officeDocument/2006/relationships/officeDocument" Target="/ppt/presentation.xml" Id="R591dc918909a43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a6db5ebb9a4e9c"/>
  </p:sldMasterIdLst>
  <p:notesMasterIdLst>
    <p:notesMasterId xmlns:r="http://schemas.openxmlformats.org/officeDocument/2006/relationships" r:id="R43ff0b931ffd4fd6"/>
  </p:notesMasterIdLst>
  <p:sldIdLst>
    <p:sldId xmlns:r="http://schemas.openxmlformats.org/officeDocument/2006/relationships" id="256" r:id="R4a81379c8aac4dcf"/>
    <p:sldId xmlns:r="http://schemas.openxmlformats.org/officeDocument/2006/relationships" id="257" r:id="R213d77ab4414474f"/>
    <p:sldId xmlns:r="http://schemas.openxmlformats.org/officeDocument/2006/relationships" id="258" r:id="R5a20e8bbd2684cde"/>
    <p:sldId xmlns:r="http://schemas.openxmlformats.org/officeDocument/2006/relationships" id="259" r:id="Ra54fa413ffb247bb"/>
    <p:sldId xmlns:r="http://schemas.openxmlformats.org/officeDocument/2006/relationships" id="260" r:id="R5f54d437ffbd4927"/>
    <p:sldId xmlns:r="http://schemas.openxmlformats.org/officeDocument/2006/relationships" id="261" r:id="Red3227134abc44e7"/>
    <p:sldId xmlns:r="http://schemas.openxmlformats.org/officeDocument/2006/relationships" id="262" r:id="R42fa7fc71c99434f"/>
    <p:sldId xmlns:r="http://schemas.openxmlformats.org/officeDocument/2006/relationships" id="263" r:id="R59bdc01356864ab9"/>
    <p:sldId xmlns:r="http://schemas.openxmlformats.org/officeDocument/2006/relationships" id="264" r:id="Rac21f640de7546ee"/>
    <p:sldId xmlns:r="http://schemas.openxmlformats.org/officeDocument/2006/relationships" id="265" r:id="R88881918b6db45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3b07d400194f96" /><Relationship Type="http://schemas.openxmlformats.org/officeDocument/2006/relationships/slideMaster" Target="/ppt/slideMasters/slideMaster1.xml" Id="R74a6db5ebb9a4e9c" /><Relationship Type="http://schemas.openxmlformats.org/officeDocument/2006/relationships/notesMaster" Target="/ppt/notesMasters/notesMaster1.xml" Id="R43ff0b931ffd4fd6" /><Relationship Type="http://schemas.openxmlformats.org/officeDocument/2006/relationships/presProps" Target="/ppt/presProps.xml" Id="R1ca15e3465c04fb0" /><Relationship Type="http://schemas.openxmlformats.org/officeDocument/2006/relationships/tableStyles" Target="/ppt/tableStyles.xml" Id="Ra3e02033e9b949ce" /><Relationship Type="http://schemas.openxmlformats.org/officeDocument/2006/relationships/slide" Target="/ppt/slides/slide1.xml" Id="R4a81379c8aac4dcf" /><Relationship Type="http://schemas.openxmlformats.org/officeDocument/2006/relationships/slide" Target="/ppt/slides/slide2.xml" Id="R213d77ab4414474f" /><Relationship Type="http://schemas.openxmlformats.org/officeDocument/2006/relationships/slide" Target="/ppt/slides/slide3.xml" Id="R5a20e8bbd2684cde" /><Relationship Type="http://schemas.openxmlformats.org/officeDocument/2006/relationships/slide" Target="/ppt/slides/slide4.xml" Id="Ra54fa413ffb247bb" /><Relationship Type="http://schemas.openxmlformats.org/officeDocument/2006/relationships/slide" Target="/ppt/slides/slide5.xml" Id="R5f54d437ffbd4927" /><Relationship Type="http://schemas.openxmlformats.org/officeDocument/2006/relationships/slide" Target="/ppt/slides/slide6.xml" Id="Red3227134abc44e7" /><Relationship Type="http://schemas.openxmlformats.org/officeDocument/2006/relationships/slide" Target="/ppt/slides/slide7.xml" Id="R42fa7fc71c99434f" /><Relationship Type="http://schemas.openxmlformats.org/officeDocument/2006/relationships/slide" Target="/ppt/slides/slide8.xml" Id="R59bdc01356864ab9" /><Relationship Type="http://schemas.openxmlformats.org/officeDocument/2006/relationships/slide" Target="/ppt/slides/slide9.xml" Id="Rac21f640de7546ee" /><Relationship Type="http://schemas.openxmlformats.org/officeDocument/2006/relationships/slide" Target="/ppt/slides/slide10.xml" Id="R88881918b6db45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83d5d0d5e341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eb2b799d5c4a60" /><Relationship Type="http://schemas.openxmlformats.org/officeDocument/2006/relationships/notesMaster" Target="/ppt/notesMasters/notesMaster1.xml" Id="R8c82d48783124b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d345605a9c4954" /><Relationship Type="http://schemas.openxmlformats.org/officeDocument/2006/relationships/notesMaster" Target="/ppt/notesMasters/notesMaster1.xml" Id="R5e4b8901be4445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6cab2e75004cfa" /><Relationship Type="http://schemas.openxmlformats.org/officeDocument/2006/relationships/notesMaster" Target="/ppt/notesMasters/notesMaster1.xml" Id="Red20ec0a1e8843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6cb656e20f4b73" /><Relationship Type="http://schemas.openxmlformats.org/officeDocument/2006/relationships/notesMaster" Target="/ppt/notesMasters/notesMaster1.xml" Id="Raf334e758c224a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d0af6fecff4fa9" /><Relationship Type="http://schemas.openxmlformats.org/officeDocument/2006/relationships/notesMaster" Target="/ppt/notesMasters/notesMaster1.xml" Id="R1c35f61b44cd4b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a6bc44c8d1418a" /><Relationship Type="http://schemas.openxmlformats.org/officeDocument/2006/relationships/notesMaster" Target="/ppt/notesMasters/notesMaster1.xml" Id="R2509681e9e4449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3f8f6b62754114" /><Relationship Type="http://schemas.openxmlformats.org/officeDocument/2006/relationships/notesMaster" Target="/ppt/notesMasters/notesMaster1.xml" Id="R60fbf37b3d4142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750b0b030940c9" /><Relationship Type="http://schemas.openxmlformats.org/officeDocument/2006/relationships/notesMaster" Target="/ppt/notesMasters/notesMaster1.xml" Id="R83cf0d9a875143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8443c9da2d4bda" /><Relationship Type="http://schemas.openxmlformats.org/officeDocument/2006/relationships/notesMaster" Target="/ppt/notesMasters/notesMaster1.xml" Id="R00cca7e5677647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9306aac0e3426d" /><Relationship Type="http://schemas.openxmlformats.org/officeDocument/2006/relationships/notesMaster" Target="/ppt/notesMasters/notesMaster1.xml" Id="Rec89347eb23a48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b8df3da8c41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a861c7d2424784" /><Relationship Type="http://schemas.openxmlformats.org/officeDocument/2006/relationships/slideLayout" Target="/ppt/slideLayouts/slideLayout1.xml" Id="Rbbbe8ff4bf4b48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be8ff4bf4b48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09dd3234a4c62" /><Relationship Type="http://schemas.openxmlformats.org/officeDocument/2006/relationships/notesSlide" Target="/ppt/notesSlides/notesSlide1.xml" Id="Ra02ee5c1628748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db6b9e2e7422e" /><Relationship Type="http://schemas.openxmlformats.org/officeDocument/2006/relationships/image" Target="/ppt/media/image.png" Id="Rb2a0502d40194184" /><Relationship Type="http://schemas.openxmlformats.org/officeDocument/2006/relationships/notesSlide" Target="/ppt/notesSlides/notesSlide2.xml" Id="R917dc513b71042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ea1cfa6224316" /><Relationship Type="http://schemas.openxmlformats.org/officeDocument/2006/relationships/notesSlide" Target="/ppt/notesSlides/notesSlide3.xml" Id="Rd65a8215b5984b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3ea15926e4762" /><Relationship Type="http://schemas.openxmlformats.org/officeDocument/2006/relationships/notesSlide" Target="/ppt/notesSlides/notesSlide4.xml" Id="Re03efe403d714a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8306f4b9342c2" /><Relationship Type="http://schemas.openxmlformats.org/officeDocument/2006/relationships/notesSlide" Target="/ppt/notesSlides/notesSlide5.xml" Id="Rfd741e4cd15349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30c1be2f5413e" /><Relationship Type="http://schemas.openxmlformats.org/officeDocument/2006/relationships/notesSlide" Target="/ppt/notesSlides/notesSlide6.xml" Id="R05d81ae0008f48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ec650cffa4ab8" /><Relationship Type="http://schemas.openxmlformats.org/officeDocument/2006/relationships/notesSlide" Target="/ppt/notesSlides/notesSlide7.xml" Id="Rbcd20296325a41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384805d48430c" /><Relationship Type="http://schemas.openxmlformats.org/officeDocument/2006/relationships/notesSlide" Target="/ppt/notesSlides/notesSlide8.xml" Id="R1ea98e0f65a84b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f87a233dd4398" /><Relationship Type="http://schemas.openxmlformats.org/officeDocument/2006/relationships/notesSlide" Target="/ppt/notesSlides/notesSlide9.xml" Id="Rbbb406c5350742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b781edf094e8f" /><Relationship Type="http://schemas.openxmlformats.org/officeDocument/2006/relationships/notesSlide" Target="/ppt/notesSlides/notesSlide10.xml" Id="R50a77551fe7a4f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67AF7E-B609-4FEB-8EBD-E62347E1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11A"/>
          </a:solidFill>
          <a:ln xmlns:a="http://schemas.openxmlformats.org/drawingml/2006/main" w="0">
            <a:solidFill>
              <a:srgbClr val="7A111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80460-D0B6-46CF-AC87-E735BBE9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609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LUCKY STAR CASINO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77CF8-0EDB-408E-9708-8D03A4E5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923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第三方登入
實作流程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13F1F-21F9-480E-837A-64D6A3B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885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Google、LINE 已完成｜Apple 憑證串接暫停</a:t>
            </a:r>
          </a:p>
        </p:txBody>
      </p:sp>
      <p:cxnSp>
        <p:nvCxnSpPr>
          <p:cNvPr id="12" name="cover-rule"/>
          <p:cNvCxnSpPr/>
          <p:nvPr/>
        </p:nvCxnSpPr>
        <p:spPr>
          <a:xfrm xmlns:a="http://schemas.openxmlformats.org/drawingml/2006/main">
            <a:off x="533400" y="4895850"/>
            <a:ext cx="82867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BE951-91D8-461D-96A6-7A535D0A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990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OAuth 2.0 / OpenID Connect · Spring Security · Redis Ticket · React Callback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FED4A-73B3-4358-8D31-DE9BAF44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341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2026.07.24</a:t>
            </a:r>
          </a:p>
        </p:txBody>
      </p:sp>
    </p:spTree>
    <p:extLst>
      <p:ext uri="{BB962C8B-B14F-4D97-AF65-F5344CB8AC3E}">
        <p14:creationId xmlns:p14="http://schemas.microsoft.com/office/powerpoint/2010/main" val="298891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2">
            <a:extLst xmlns:a="http://schemas.openxmlformats.org/drawingml/2006/main">
              <a:ext uri="{FF2B5EF4-FFF2-40B4-BE49-F238E27FC236}">
                <a16:creationId xmlns:a16="http://schemas.microsoft.com/office/drawing/2014/main" id="{DFF3DC1E-BE95-490B-A3B0-945E4BE6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LUCKY STAR CASINO · MEMBER SERVICE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6DBFCAB-8A69-4600-8CBE-73E2C87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這不是把三個按鈕接上，而是一條完整的信任鏈</a:t>
            </a:r>
          </a:p>
        </p:txBody>
      </p:sp>
      <p:cxnSp>
        <p:nvCxnSpPr>
          <p:cNvPr id="14" name="title-rule-2"/>
          <p:cNvCxnSpPr/>
          <p:nvPr/>
        </p:nvCxnSpPr>
        <p:spPr>
          <a:xfrm xmlns:a="http://schemas.openxmlformats.org/drawingml/2006/main">
            <a:off x="457200" y="1438275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62F06CB-8D3A-441C-A265-4C5D7984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3C168-F53F-4A3F-9E24-C4081305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玩家看見的入口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47ACD-FF29-4402-8649-F5AB8C7E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3952875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登入頁只有一個動作：選擇供應商。
真正的身分驗證、綁定判斷與 JWT 簽發都在後端完成。</a:t>
            </a:r>
          </a:p>
        </p:txBody>
      </p:sp>
      <p:sp>
        <p:nvSpPr>
          <p:cNvPr id="7" name="entry-callout">
            <a:extLst xmlns:a="http://schemas.openxmlformats.org/drawingml/2006/main">
              <a:ext uri="{FF2B5EF4-FFF2-40B4-BE49-F238E27FC236}">
                <a16:creationId xmlns:a16="http://schemas.microsoft.com/office/drawing/2014/main" id="{2AA90D88-86B9-400F-B8C4-EFD84781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39433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3378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0DFE4-EC8A-4F3E-8FAD-C5B3BF6F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37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核心成果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C2623-5502-4621-87F5-AF832304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333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既有會員先綁定，之後可直接用 Google 或 LINE 登入。</a:t>
            </a:r>
          </a:p>
        </p:txBody>
      </p:sp>
      <p:sp>
        <p:nvSpPr>
          <p:cNvPr id="10" name="entry-image-frame">
            <a:extLst xmlns:a="http://schemas.openxmlformats.org/drawingml/2006/main">
              <a:ext uri="{FF2B5EF4-FFF2-40B4-BE49-F238E27FC236}">
                <a16:creationId xmlns:a16="http://schemas.microsoft.com/office/drawing/2014/main" id="{815F047E-CE23-46D3-A4E0-DFAF910A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52600"/>
            <a:ext cx="68294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0502d40194184"/>
          <a:srcRect xmlns:a="http://schemas.openxmlformats.org/drawingml/2006/main" l="2229" t="0" r="22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9675" y="1866900"/>
            <a:ext cx="6600825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9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-3">
            <a:extLst xmlns:a="http://schemas.openxmlformats.org/drawingml/2006/main">
              <a:ext uri="{FF2B5EF4-FFF2-40B4-BE49-F238E27FC236}">
                <a16:creationId xmlns:a16="http://schemas.microsoft.com/office/drawing/2014/main" id="{505ECD4A-D172-40EC-AEC4-03E59550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LUCKY STAR CASINO · MEMBER SERVICE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2589F7C-B351-490E-9146-34A76488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一次登入會跨過 6 個邊界</a:t>
            </a:r>
          </a:p>
        </p:txBody>
      </p:sp>
      <p:cxnSp>
        <p:nvCxnSpPr>
          <p:cNvPr id="37" name="title-rule-3"/>
          <p:cNvCxnSpPr/>
          <p:nvPr/>
        </p:nvCxnSpPr>
        <p:spPr>
          <a:xfrm xmlns:a="http://schemas.openxmlformats.org/drawingml/2006/main">
            <a:off x="457200" y="1438275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82E3CA9E-6BBF-4C8C-9ED0-D0B16214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03</a:t>
            </a:r>
          </a:p>
        </p:txBody>
      </p:sp>
      <p:cxnSp>
        <p:nvCxnSpPr>
          <p:cNvPr id="39" name="flow-line-0"/>
          <p:cNvCxnSpPr/>
          <p:nvPr/>
        </p:nvCxnSpPr>
        <p:spPr>
          <a:xfrm xmlns:a="http://schemas.openxmlformats.org/drawingml/2006/main">
            <a:off x="1238250" y="3324225"/>
            <a:ext cx="12763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0" name="flow-line-1"/>
          <p:cNvCxnSpPr/>
          <p:nvPr/>
        </p:nvCxnSpPr>
        <p:spPr>
          <a:xfrm xmlns:a="http://schemas.openxmlformats.org/drawingml/2006/main">
            <a:off x="3105150" y="3324225"/>
            <a:ext cx="12763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1" name="flow-line-2"/>
          <p:cNvCxnSpPr/>
          <p:nvPr/>
        </p:nvCxnSpPr>
        <p:spPr>
          <a:xfrm xmlns:a="http://schemas.openxmlformats.org/drawingml/2006/main">
            <a:off x="4972050" y="3324225"/>
            <a:ext cx="12763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2" name="flow-line-3"/>
          <p:cNvCxnSpPr/>
          <p:nvPr/>
        </p:nvCxnSpPr>
        <p:spPr>
          <a:xfrm xmlns:a="http://schemas.openxmlformats.org/drawingml/2006/main">
            <a:off x="6838950" y="3324225"/>
            <a:ext cx="12763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3" name="flow-line-4"/>
          <p:cNvCxnSpPr/>
          <p:nvPr/>
        </p:nvCxnSpPr>
        <p:spPr>
          <a:xfrm xmlns:a="http://schemas.openxmlformats.org/drawingml/2006/main">
            <a:off x="8705850" y="3324225"/>
            <a:ext cx="12763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0" name="flow-dot-0">
            <a:extLst xmlns:a="http://schemas.openxmlformats.org/drawingml/2006/main">
              <a:ext uri="{FF2B5EF4-FFF2-40B4-BE49-F238E27FC236}">
                <a16:creationId xmlns:a16="http://schemas.microsoft.com/office/drawing/2014/main" id="{D5660D8F-7E18-485B-8D36-CB85A5B3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B47A8-952E-40D9-ABE9-DF3C35B9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590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DD4D5-B705-4C9D-825E-B2AE67CD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97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前端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925D4-3729-48BB-B104-D39B6B35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248150"/>
            <a:ext cx="1390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取得授權網址</a:t>
            </a:r>
          </a:p>
        </p:txBody>
      </p:sp>
      <p:sp>
        <p:nvSpPr>
          <p:cNvPr id="14" name="flow-dot-1">
            <a:extLst xmlns:a="http://schemas.openxmlformats.org/drawingml/2006/main">
              <a:ext uri="{FF2B5EF4-FFF2-40B4-BE49-F238E27FC236}">
                <a16:creationId xmlns:a16="http://schemas.microsoft.com/office/drawing/2014/main" id="{7F1844F8-DA30-4714-84C5-6DB8F9ED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289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79BB4-2426-4382-B201-CA1E647F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52775"/>
            <a:ext cx="590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D94B5-C778-4875-9BBF-241C91E9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48100"/>
            <a:ext cx="97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072B9-F663-47A3-81D5-54B47578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48150"/>
            <a:ext cx="1390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玩家同意授權</a:t>
            </a:r>
          </a:p>
        </p:txBody>
      </p:sp>
      <p:sp>
        <p:nvSpPr>
          <p:cNvPr id="18" name="flow-dot-2">
            <a:extLst xmlns:a="http://schemas.openxmlformats.org/drawingml/2006/main">
              <a:ext uri="{FF2B5EF4-FFF2-40B4-BE49-F238E27FC236}">
                <a16:creationId xmlns:a16="http://schemas.microsoft.com/office/drawing/2014/main" id="{3DE0C034-4C63-4C30-AB8E-6013E7AF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0270F-05D6-4998-997B-97F89F62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52775"/>
            <a:ext cx="590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F9A2E-498F-4F4F-811E-53A718E9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48100"/>
            <a:ext cx="97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Gateway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0E2E1-5B2E-4527-A80D-1C5BD398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48150"/>
            <a:ext cx="1390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轉送 callback</a:t>
            </a:r>
          </a:p>
        </p:txBody>
      </p:sp>
      <p:sp>
        <p:nvSpPr>
          <p:cNvPr id="22" name="flow-dot-3">
            <a:extLst xmlns:a="http://schemas.openxmlformats.org/drawingml/2006/main">
              <a:ext uri="{FF2B5EF4-FFF2-40B4-BE49-F238E27FC236}">
                <a16:creationId xmlns:a16="http://schemas.microsoft.com/office/drawing/2014/main" id="{FC5FDC0F-E812-4003-99BE-F883D0AD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0A6B2-B50D-4BAD-80DE-54A518B0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52775"/>
            <a:ext cx="590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2DB6C6-5160-4BD0-BC2E-B8F64AE8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48100"/>
            <a:ext cx="97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Member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FC0299-B770-48CC-805D-2E5D10ED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48150"/>
            <a:ext cx="1390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驗證 OIDC sub</a:t>
            </a:r>
          </a:p>
        </p:txBody>
      </p:sp>
      <p:sp>
        <p:nvSpPr>
          <p:cNvPr id="26" name="flow-dot-4">
            <a:extLst xmlns:a="http://schemas.openxmlformats.org/drawingml/2006/main">
              <a:ext uri="{FF2B5EF4-FFF2-40B4-BE49-F238E27FC236}">
                <a16:creationId xmlns:a16="http://schemas.microsoft.com/office/drawing/2014/main" id="{11B65F0F-E762-4E2A-9FF6-48C49E72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718"/>
          </a:solidFill>
          <a:ln xmlns:a="http://schemas.openxmlformats.org/drawingml/2006/main" w="0">
            <a:solidFill>
              <a:srgbClr val="B887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68D34-221B-4009-9BAE-2527F2B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52775"/>
            <a:ext cx="590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D1BF5B-932A-4FF6-A726-8B9A68FF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97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Redis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24263-E559-41AE-8971-C01A6911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1390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保存一次性 ticket</a:t>
            </a:r>
          </a:p>
        </p:txBody>
      </p:sp>
      <p:sp>
        <p:nvSpPr>
          <p:cNvPr id="30" name="flow-dot-5">
            <a:extLst xmlns:a="http://schemas.openxmlformats.org/drawingml/2006/main">
              <a:ext uri="{FF2B5EF4-FFF2-40B4-BE49-F238E27FC236}">
                <a16:creationId xmlns:a16="http://schemas.microsoft.com/office/drawing/2014/main" id="{EAD847AE-08F1-42A6-9C6F-AF3C6BE1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FB4EEF-AAFE-47DB-A148-8423E2A0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52775"/>
            <a:ext cx="590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55798A-3972-4B5E-8EC9-23584154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48100"/>
            <a:ext cx="97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前端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D25A2E-B0E1-493F-8A51-95A9EBAF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48150"/>
            <a:ext cx="1390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POST 換 JWT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AA664A-AA74-4127-85E5-303BDC37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62575"/>
            <a:ext cx="9105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授權碼與 provider token 不會成為 Lucky Star 的登入憑證；只有 Member Service 能簽發平台 JWT。</a:t>
            </a:r>
          </a:p>
        </p:txBody>
      </p:sp>
    </p:spTree>
    <p:extLst>
      <p:ext uri="{BB962C8B-B14F-4D97-AF65-F5344CB8AC3E}">
        <p14:creationId xmlns:p14="http://schemas.microsoft.com/office/powerpoint/2010/main" val="100979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4">
            <a:extLst xmlns:a="http://schemas.openxmlformats.org/drawingml/2006/main">
              <a:ext uri="{FF2B5EF4-FFF2-40B4-BE49-F238E27FC236}">
                <a16:creationId xmlns:a16="http://schemas.microsoft.com/office/drawing/2014/main" id="{7D3AD28B-98AD-4CCE-BD69-99729E26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LUCKY STAR CASINO · MEMBER SERVICE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FC9D0C7-5350-4784-AD5F-21D50263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綁定與登入是兩條刻意分開的路徑</a:t>
            </a:r>
          </a:p>
        </p:txBody>
      </p:sp>
      <p:cxnSp>
        <p:nvCxnSpPr>
          <p:cNvPr id="16" name="title-rule-4"/>
          <p:cNvCxnSpPr/>
          <p:nvPr/>
        </p:nvCxnSpPr>
        <p:spPr>
          <a:xfrm xmlns:a="http://schemas.openxmlformats.org/drawingml/2006/main">
            <a:off x="457200" y="1438275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4E43CE3-469A-412F-8847-D790C3BC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D162B-BE06-4A0D-BFDB-FAA01C7C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綁定流程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A7D5E-3F14-4F5A-AECA-93B5381F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4953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 先用帳號密碼登入
2. 產生 5 分鐘 binding ticket
3. provider callback 寫入 (provider, sub)
4. 一位玩家每個 provider 只能綁一次</a:t>
            </a:r>
          </a:p>
        </p:txBody>
      </p:sp>
      <p:sp>
        <p:nvSpPr>
          <p:cNvPr id="7" name="binding-good">
            <a:extLst xmlns:a="http://schemas.openxmlformats.org/drawingml/2006/main">
              <a:ext uri="{FF2B5EF4-FFF2-40B4-BE49-F238E27FC236}">
                <a16:creationId xmlns:a16="http://schemas.microsoft.com/office/drawing/2014/main" id="{E3535B8E-053E-45A0-9F9B-7AA02EBF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E"/>
          </a:solidFill>
          <a:ln xmlns:a="http://schemas.openxmlformats.org/drawingml/2006/main" w="9525">
            <a:solidFill>
              <a:srgbClr val="18A9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C5DE3-C1C5-437A-97B5-B0BEC45D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495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目的：確認是帳戶本人主動綁定</a:t>
            </a:r>
          </a:p>
        </p:txBody>
      </p:sp>
      <p:cxnSp>
        <p:nvCxnSpPr>
          <p:cNvPr id="22" name="split"/>
          <p:cNvCxnSpPr/>
          <p:nvPr/>
        </p:nvCxnSpPr>
        <p:spPr>
          <a:xfrm xmlns:a="http://schemas.openxmlformats.org/drawingml/2006/main">
            <a:off x="5905500" y="1752600"/>
            <a:ext cx="286" cy="40576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D685B-24DB-43CB-8FA9-0B23DCA2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11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登入流程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49BFC-D5FA-4C88-9573-B26DF28D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4953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 直接選擇 Google 或 LINE
2. provider callback 查詢既有 (provider, sub)
3. 已綁定才建立 Lucky Star session
4. 未綁定一律拒絕，不用 email 自動合併</a:t>
            </a:r>
          </a:p>
        </p:txBody>
      </p:sp>
      <p:sp>
        <p:nvSpPr>
          <p:cNvPr id="12" name="login-reject">
            <a:extLst xmlns:a="http://schemas.openxmlformats.org/drawingml/2006/main">
              <a:ext uri="{FF2B5EF4-FFF2-40B4-BE49-F238E27FC236}">
                <a16:creationId xmlns:a16="http://schemas.microsoft.com/office/drawing/2014/main" id="{D73E9228-14CA-4262-BC13-4F47DD3C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437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7A11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A2DB1-BDC9-4DEC-AACD-54F41144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48225"/>
            <a:ext cx="4495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11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目的：阻止同 email 帳戶被錯誤接管</a:t>
            </a:r>
          </a:p>
        </p:txBody>
      </p:sp>
    </p:spTree>
    <p:extLst>
      <p:ext uri="{BB962C8B-B14F-4D97-AF65-F5344CB8AC3E}">
        <p14:creationId xmlns:p14="http://schemas.microsoft.com/office/powerpoint/2010/main" val="1024529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5">
            <a:extLst xmlns:a="http://schemas.openxmlformats.org/drawingml/2006/main">
              <a:ext uri="{FF2B5EF4-FFF2-40B4-BE49-F238E27FC236}">
                <a16:creationId xmlns:a16="http://schemas.microsoft.com/office/drawing/2014/main" id="{9696948B-EC80-4119-9AA0-03DCCEF4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LUCKY STAR CASINO · MEMBER SERVICE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D94434E-DCB2-425D-9D1B-E22BB997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Google 與 LINE 共用架構，但驗證細節不同</a:t>
            </a:r>
          </a:p>
        </p:txBody>
      </p:sp>
      <p:cxnSp>
        <p:nvCxnSpPr>
          <p:cNvPr id="16" name="title-rule-5"/>
          <p:cNvCxnSpPr/>
          <p:nvPr/>
        </p:nvCxnSpPr>
        <p:spPr>
          <a:xfrm xmlns:a="http://schemas.openxmlformats.org/drawingml/2006/main">
            <a:off x="457200" y="1438275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3561F47-2794-404B-A809-7699C0B6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05</a:t>
            </a:r>
          </a:p>
        </p:txBody>
      </p:sp>
      <p:sp>
        <p:nvSpPr>
          <p:cNvPr id="5" name="google-band">
            <a:extLst xmlns:a="http://schemas.openxmlformats.org/drawingml/2006/main">
              <a:ext uri="{FF2B5EF4-FFF2-40B4-BE49-F238E27FC236}">
                <a16:creationId xmlns:a16="http://schemas.microsoft.com/office/drawing/2014/main" id="{CEF2F244-A52E-42CC-8E73-345E1D65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0">
            <a:solidFill>
              <a:srgbClr val="E8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043C4-2A92-4880-9127-3CD98C18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37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874FB-672D-4387-995F-4FB04BBA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572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Google Cloud 建立 OAuth Web Client
Scope：openid / profile / email
Callback：/api/v1/auth/oauth2/callback/google
ID Token：RS256</a:t>
            </a:r>
          </a:p>
        </p:txBody>
      </p:sp>
      <p:sp>
        <p:nvSpPr>
          <p:cNvPr id="8" name="line-band">
            <a:extLst xmlns:a="http://schemas.openxmlformats.org/drawingml/2006/main">
              <a:ext uri="{FF2B5EF4-FFF2-40B4-BE49-F238E27FC236}">
                <a16:creationId xmlns:a16="http://schemas.microsoft.com/office/drawing/2014/main" id="{19C12EE2-8DC9-4B75-9C99-C18863F8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521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E"/>
          </a:solidFill>
          <a:ln xmlns:a="http://schemas.openxmlformats.org/drawingml/2006/main" w="0">
            <a:solidFill>
              <a:srgbClr val="E7F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1A778-1FE0-4A0A-9206-37D5246A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A9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1070C-5DA5-4B49-91B8-287603C0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4572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LINE Developers 建立 Login Channel
Scope：openid / profile
Callback：/api/v1/auth/oauth2/callback/line
ID Token：HS256，以 Channel Secret 驗證</a:t>
            </a:r>
          </a:p>
        </p:txBody>
      </p:sp>
      <p:cxnSp>
        <p:nvCxnSpPr>
          <p:cNvPr id="24" name="provider-split"/>
          <p:cNvCxnSpPr/>
          <p:nvPr/>
        </p:nvCxnSpPr>
        <p:spPr>
          <a:xfrm xmlns:a="http://schemas.openxmlformats.org/drawingml/2006/main">
            <a:off x="5905500" y="1809750"/>
            <a:ext cx="286" cy="36576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provider-key">
            <a:extLst xmlns:a="http://schemas.openxmlformats.org/drawingml/2006/main">
              <a:ext uri="{FF2B5EF4-FFF2-40B4-BE49-F238E27FC236}">
                <a16:creationId xmlns:a16="http://schemas.microsoft.com/office/drawing/2014/main" id="{B16808A2-A7A6-4B5C-8818-38A661AE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1089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solidFill>
              <a:srgbClr val="F1F2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D0CE6-15C9-45DD-BD21-BBEA8336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363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共同點：authorization-code + OIDC、subject 作唯一識別、成功後都進一次性 ticket 交換。</a:t>
            </a:r>
          </a:p>
        </p:txBody>
      </p:sp>
    </p:spTree>
    <p:extLst>
      <p:ext uri="{BB962C8B-B14F-4D97-AF65-F5344CB8AC3E}">
        <p14:creationId xmlns:p14="http://schemas.microsoft.com/office/powerpoint/2010/main" val="1104750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6">
            <a:extLst xmlns:a="http://schemas.openxmlformats.org/drawingml/2006/main">
              <a:ext uri="{FF2B5EF4-FFF2-40B4-BE49-F238E27FC236}">
                <a16:creationId xmlns:a16="http://schemas.microsoft.com/office/drawing/2014/main" id="{85C4C61A-D453-4656-8900-A7339BAA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LUCKY STAR CASINO · MEMBER SERVICE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9F49A7E-5B31-491C-BA14-477442B1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一次性 ticket 讓 JWT 不出現在 callback URL</a:t>
            </a:r>
          </a:p>
        </p:txBody>
      </p:sp>
      <p:cxnSp>
        <p:nvCxnSpPr>
          <p:cNvPr id="26" name="title-rule-6"/>
          <p:cNvCxnSpPr/>
          <p:nvPr/>
        </p:nvCxnSpPr>
        <p:spPr>
          <a:xfrm xmlns:a="http://schemas.openxmlformats.org/drawingml/2006/main">
            <a:off x="457200" y="1438275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7AD1745C-C590-491F-83FD-D61EE474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06</a:t>
            </a:r>
          </a:p>
        </p:txBody>
      </p:sp>
      <p:cxnSp>
        <p:nvCxnSpPr>
          <p:cNvPr id="28" name="ticket-path"/>
          <p:cNvCxnSpPr/>
          <p:nvPr/>
        </p:nvCxnSpPr>
        <p:spPr>
          <a:xfrm xmlns:a="http://schemas.openxmlformats.org/drawingml/2006/main">
            <a:off x="1143000" y="3343275"/>
            <a:ext cx="97155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sec-box-0">
            <a:extLst xmlns:a="http://schemas.openxmlformats.org/drawingml/2006/main">
              <a:ext uri="{FF2B5EF4-FFF2-40B4-BE49-F238E27FC236}">
                <a16:creationId xmlns:a16="http://schemas.microsoft.com/office/drawing/2014/main" id="{8536F49A-6E8D-4A9B-AD1B-CD08003F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337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4E042-2C19-4553-A20F-B6EADCC7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03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Provider callback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E46D2-D243-42CA-9ADA-200091B4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1352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驗證完成</a:t>
            </a:r>
          </a:p>
        </p:txBody>
      </p:sp>
      <p:sp>
        <p:nvSpPr>
          <p:cNvPr id="9" name="sec-box-1">
            <a:extLst xmlns:a="http://schemas.openxmlformats.org/drawingml/2006/main">
              <a:ext uri="{FF2B5EF4-FFF2-40B4-BE49-F238E27FC236}">
                <a16:creationId xmlns:a16="http://schemas.microsoft.com/office/drawing/2014/main" id="{B782A93B-DD41-4238-AFD6-78546F02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4E80C-C2A7-4F6E-807E-E257A34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24175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Member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BC071-B1B4-4B93-B6C4-C8463131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1352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簽發平台 JWT</a:t>
            </a:r>
          </a:p>
        </p:txBody>
      </p:sp>
      <p:sp>
        <p:nvSpPr>
          <p:cNvPr id="12" name="sec-box-2">
            <a:extLst xmlns:a="http://schemas.openxmlformats.org/drawingml/2006/main">
              <a:ext uri="{FF2B5EF4-FFF2-40B4-BE49-F238E27FC236}">
                <a16:creationId xmlns:a16="http://schemas.microsoft.com/office/drawing/2014/main" id="{1B7D7BE4-6F51-4311-A583-1598BEC0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4"/>
          </a:solidFill>
          <a:ln xmlns:a="http://schemas.openxmlformats.org/drawingml/2006/main" w="9525">
            <a:solidFill>
              <a:srgbClr val="B887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B249B-67DC-4FB0-AF42-97EC3125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24175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Redis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7D7A8-CF3F-4175-89E7-0F28A5E9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1352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保存 2 分鐘 ticket</a:t>
            </a:r>
          </a:p>
        </p:txBody>
      </p:sp>
      <p:sp>
        <p:nvSpPr>
          <p:cNvPr id="15" name="sec-box-3">
            <a:extLst xmlns:a="http://schemas.openxmlformats.org/drawingml/2006/main">
              <a:ext uri="{FF2B5EF4-FFF2-40B4-BE49-F238E27FC236}">
                <a16:creationId xmlns:a16="http://schemas.microsoft.com/office/drawing/2014/main" id="{45A45F93-4776-4D23-8751-B1517DBB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7B600-DD3F-4376-A288-20C723E5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24175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41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Frontend callback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3FE9B-A034-4E06-8C30-86F7EF5D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1352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URL 只帶 ticket</a:t>
            </a:r>
          </a:p>
        </p:txBody>
      </p:sp>
      <p:sp>
        <p:nvSpPr>
          <p:cNvPr id="18" name="sec-box-4">
            <a:extLst xmlns:a="http://schemas.openxmlformats.org/drawingml/2006/main">
              <a:ext uri="{FF2B5EF4-FFF2-40B4-BE49-F238E27FC236}">
                <a16:creationId xmlns:a16="http://schemas.microsoft.com/office/drawing/2014/main" id="{8206C240-EAEB-4872-A6BD-125BF3A9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241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E"/>
          </a:solidFill>
          <a:ln xmlns:a="http://schemas.openxmlformats.org/drawingml/2006/main" w="9525">
            <a:solidFill>
              <a:srgbClr val="18A9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47B74-FB3C-409A-A466-FC3D56A8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24175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POST exchange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A31ED-B79F-4B4A-B81D-B7D1B617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90900"/>
            <a:ext cx="1352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換回 JWT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6798D-8A14-41C7-A2B6-8DFB59EA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48200"/>
            <a:ext cx="381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30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使用後 getAndDelete：ticket 只能交換一次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DBE96-F223-4111-A572-4DD6F633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482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11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Callback 完成後銷毀短暫 HttpSession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E2F94-A872-432F-A9C2-EFD934C4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67350"/>
            <a:ext cx="659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JWT 不進瀏覽器歷史、代理日誌或 Referer。</a:t>
            </a:r>
          </a:p>
        </p:txBody>
      </p:sp>
    </p:spTree>
    <p:extLst>
      <p:ext uri="{BB962C8B-B14F-4D97-AF65-F5344CB8AC3E}">
        <p14:creationId xmlns:p14="http://schemas.microsoft.com/office/powerpoint/2010/main" val="18512642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7">
            <a:extLst xmlns:a="http://schemas.openxmlformats.org/drawingml/2006/main">
              <a:ext uri="{FF2B5EF4-FFF2-40B4-BE49-F238E27FC236}">
                <a16:creationId xmlns:a16="http://schemas.microsoft.com/office/drawing/2014/main" id="{2330FA0F-79DA-4827-9B79-13CB76E0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LUCKY STAR CASINO · MEMBER SERVICE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718133D-73E5-4F4B-8B5F-F6392BFB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實作責任分散在四個清楚的邊界</a:t>
            </a:r>
          </a:p>
        </p:txBody>
      </p:sp>
      <p:cxnSp>
        <p:nvCxnSpPr>
          <p:cNvPr id="23" name="title-rule-7"/>
          <p:cNvCxnSpPr/>
          <p:nvPr/>
        </p:nvCxnSpPr>
        <p:spPr>
          <a:xfrm xmlns:a="http://schemas.openxmlformats.org/drawingml/2006/main">
            <a:off x="457200" y="1438275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ECADC556-BED1-41C3-946A-73186B8D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07</a:t>
            </a:r>
          </a:p>
        </p:txBody>
      </p:sp>
      <p:sp>
        <p:nvSpPr>
          <p:cNvPr id="5" name="owner-frontend">
            <a:extLst xmlns:a="http://schemas.openxmlformats.org/drawingml/2006/main">
              <a:ext uri="{FF2B5EF4-FFF2-40B4-BE49-F238E27FC236}">
                <a16:creationId xmlns:a16="http://schemas.microsoft.com/office/drawing/2014/main" id="{E4FD6A7C-5A6D-44C2-8EAE-D55AD0DA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25527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9F96B-221C-4BC3-81D6-5D9A357F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D0780-CEC5-4B96-8AFD-CCB591F9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0955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Member.jsx
OAuthCallback.jsx
SocialBinding.jsx
memberApi.js
authSlice.js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FD0A1-F453-4E59-8FCB-A3E8EDA2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導向、換票、保存 session</a:t>
            </a:r>
          </a:p>
        </p:txBody>
      </p:sp>
      <p:sp>
        <p:nvSpPr>
          <p:cNvPr id="9" name="owner-backend">
            <a:extLst xmlns:a="http://schemas.openxmlformats.org/drawingml/2006/main">
              <a:ext uri="{FF2B5EF4-FFF2-40B4-BE49-F238E27FC236}">
                <a16:creationId xmlns:a16="http://schemas.microsoft.com/office/drawing/2014/main" id="{92B3E050-7C03-4EF7-938B-E30A756F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47850"/>
            <a:ext cx="25527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F0301-BBEE-45FE-B233-1D1B7ACD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Member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077D2-44CD-4428-BBA2-D7CD8084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20955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SocialAuthController
SocialAuthService
SecurityConfig
Success / Failure Handler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27098-FFAB-43EE-A90D-6610C847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11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驗證、綁定、簽發 JWT</a:t>
            </a:r>
          </a:p>
        </p:txBody>
      </p:sp>
      <p:sp>
        <p:nvSpPr>
          <p:cNvPr id="13" name="owner-redis">
            <a:extLst xmlns:a="http://schemas.openxmlformats.org/drawingml/2006/main">
              <a:ext uri="{FF2B5EF4-FFF2-40B4-BE49-F238E27FC236}">
                <a16:creationId xmlns:a16="http://schemas.microsoft.com/office/drawing/2014/main" id="{B791111A-8723-4CE8-9852-489ED8DF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47850"/>
            <a:ext cx="25527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F272C-2560-4E1C-A394-FB62A933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Redis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81E4F-3A2D-4FBB-951C-489EADB0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20955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binding ticket
TTL 5 分鐘
login ticket
TTL 2 分鐘
getAndDelete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A3201-A834-4B50-951A-F04AD5DD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短期狀態與防重放</a:t>
            </a:r>
          </a:p>
        </p:txBody>
      </p:sp>
      <p:sp>
        <p:nvSpPr>
          <p:cNvPr id="17" name="owner-mysql">
            <a:extLst xmlns:a="http://schemas.openxmlformats.org/drawingml/2006/main">
              <a:ext uri="{FF2B5EF4-FFF2-40B4-BE49-F238E27FC236}">
                <a16:creationId xmlns:a16="http://schemas.microsoft.com/office/drawing/2014/main" id="{5B3800EC-5DEB-4A3C-A588-94ACE284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47850"/>
            <a:ext cx="25527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DB07D-D6D4-41E5-91CC-DD99D163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MySQL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E5069-166D-4B5E-94AB-7991F55B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67000"/>
            <a:ext cx="20955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member_social_accounts
UNIQUE(provider, sub)
UNIQUE(member, provider)
ON DELETE CASCADE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D57D6-339B-41AB-BE77-33C797D1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530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持久化第三方身分</a:t>
            </a:r>
          </a:p>
        </p:txBody>
      </p:sp>
    </p:spTree>
    <p:extLst>
      <p:ext uri="{BB962C8B-B14F-4D97-AF65-F5344CB8AC3E}">
        <p14:creationId xmlns:p14="http://schemas.microsoft.com/office/powerpoint/2010/main" val="16721053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8">
            <a:extLst xmlns:a="http://schemas.openxmlformats.org/drawingml/2006/main">
              <a:ext uri="{FF2B5EF4-FFF2-40B4-BE49-F238E27FC236}">
                <a16:creationId xmlns:a16="http://schemas.microsoft.com/office/drawing/2014/main" id="{6B362ACD-3AC8-4621-9997-7B183261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LUCKY STAR CASINO · MEMBER SERVICE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AA769CF-DBD8-4B42-9C90-93853CD0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測試從程式邏輯一路走到真實帳戶</a:t>
            </a:r>
          </a:p>
        </p:txBody>
      </p:sp>
      <p:cxnSp>
        <p:nvCxnSpPr>
          <p:cNvPr id="22" name="title-rule-8"/>
          <p:cNvCxnSpPr/>
          <p:nvPr/>
        </p:nvCxnSpPr>
        <p:spPr>
          <a:xfrm xmlns:a="http://schemas.openxmlformats.org/drawingml/2006/main">
            <a:off x="457200" y="1438275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498E7005-20AC-447D-A93B-C0D06A0E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A55C0-1FB2-4D76-99F1-2847C888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2286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A11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D80B2-BEB2-463B-AFF9-6C2518FF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Member Service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0B31C-41F1-49AF-BD27-B473ED23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2286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37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4AF87-42E4-47BA-A0B7-C4B99803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Frontend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D3D17-A88C-41F6-9F81-0E8B4CA9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286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A9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BE195-5F91-48C6-86DD-B8E8781C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真實 provider 已驗證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37F48-DBE5-4A2B-B9B8-12B5E24B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24050"/>
            <a:ext cx="2286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DDEAE-C3C0-4A47-B8AF-DADE2201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callback console errors</a:t>
            </a:r>
          </a:p>
        </p:txBody>
      </p:sp>
      <p:cxnSp>
        <p:nvCxnSpPr>
          <p:cNvPr id="32" name="verify-rule"/>
          <p:cNvCxnSpPr/>
          <p:nvPr/>
        </p:nvCxnSpPr>
        <p:spPr>
          <a:xfrm xmlns:a="http://schemas.openxmlformats.org/drawingml/2006/main">
            <a:off x="647700" y="3448050"/>
            <a:ext cx="10858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33310-3FD2-4EA9-8DEB-65F36C13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自動測試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B15DC-5C8C-4713-95CC-1EF810BB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572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OIDC 演算法、未綁定拒絕、ticket 過期與一次性交換、Spring context、Mock 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0758E-1738-4949-A065-59E57B59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實際驗證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93A73-193A-4D2A-AA36-830C5752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4762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Google 綁定／登出／直接登入；LINE 綁定／資料庫確認／直接登入；Gateway 與 Member Service 健康。</a:t>
            </a:r>
          </a:p>
        </p:txBody>
      </p:sp>
      <p:sp>
        <p:nvSpPr>
          <p:cNvPr id="18" name="verified-band">
            <a:extLst xmlns:a="http://schemas.openxmlformats.org/drawingml/2006/main">
              <a:ext uri="{FF2B5EF4-FFF2-40B4-BE49-F238E27FC236}">
                <a16:creationId xmlns:a16="http://schemas.microsoft.com/office/drawing/2014/main" id="{4806F29F-983C-40F7-A29E-7DE303F3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59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E"/>
          </a:solidFill>
          <a:ln xmlns:a="http://schemas.openxmlformats.org/drawingml/2006/main" w="0">
            <a:solidFill>
              <a:srgbClr val="E7F7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FCCDC-0207-458F-94CA-43A4D40F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058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A9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結果：Google、LINE 已形成可重複展示的完整閉環。</a:t>
            </a:r>
          </a:p>
        </p:txBody>
      </p:sp>
    </p:spTree>
    <p:extLst>
      <p:ext uri="{BB962C8B-B14F-4D97-AF65-F5344CB8AC3E}">
        <p14:creationId xmlns:p14="http://schemas.microsoft.com/office/powerpoint/2010/main" val="15701956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9">
            <a:extLst xmlns:a="http://schemas.openxmlformats.org/drawingml/2006/main">
              <a:ext uri="{FF2B5EF4-FFF2-40B4-BE49-F238E27FC236}">
                <a16:creationId xmlns:a16="http://schemas.microsoft.com/office/drawing/2014/main" id="{85AE0C55-C4C8-4B91-9BFF-8987A03B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LUCKY STAR CASINO · MEMBER SERVICE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72D1009-C0E1-48FA-B145-07114280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目前完成 Google、LINE；Apple 保留可續作入口</a:t>
            </a:r>
          </a:p>
        </p:txBody>
      </p:sp>
      <p:cxnSp>
        <p:nvCxnSpPr>
          <p:cNvPr id="24" name="title-rule-9"/>
          <p:cNvCxnSpPr/>
          <p:nvPr/>
        </p:nvCxnSpPr>
        <p:spPr>
          <a:xfrm xmlns:a="http://schemas.openxmlformats.org/drawingml/2006/main">
            <a:off x="457200" y="1438275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4E37774E-3335-4CAE-9BD1-0F317A01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A0E72-E662-4C38-BDB0-F72B9D81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Google</a:t>
            </a:r>
          </a:p>
        </p:txBody>
      </p:sp>
      <p:sp>
        <p:nvSpPr>
          <p:cNvPr id="6" name="google-status">
            <a:extLst xmlns:a="http://schemas.openxmlformats.org/drawingml/2006/main">
              <a:ext uri="{FF2B5EF4-FFF2-40B4-BE49-F238E27FC236}">
                <a16:creationId xmlns:a16="http://schemas.microsoft.com/office/drawing/2014/main" id="{57472872-393F-4E6A-B9F2-441B9802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E"/>
          </a:solidFill>
          <a:ln xmlns:a="http://schemas.openxmlformats.org/drawingml/2006/main" w="9525">
            <a:solidFill>
              <a:srgbClr val="18A9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B09EA-CBBE-4A18-843C-FDD4A641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A9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5AF90-B434-4B2A-9860-755471EC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4765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Web Client、callback、綁定、直接登入均已驗證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C143C-A914-4EA0-81BB-4FAACA13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9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LINE</a:t>
            </a:r>
          </a:p>
        </p:txBody>
      </p:sp>
      <p:sp>
        <p:nvSpPr>
          <p:cNvPr id="10" name="line-status">
            <a:extLst xmlns:a="http://schemas.openxmlformats.org/drawingml/2006/main">
              <a:ext uri="{FF2B5EF4-FFF2-40B4-BE49-F238E27FC236}">
                <a16:creationId xmlns:a16="http://schemas.microsoft.com/office/drawing/2014/main" id="{91054A95-89C5-4155-850A-2E5085D9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E"/>
          </a:solidFill>
          <a:ln xmlns:a="http://schemas.openxmlformats.org/drawingml/2006/main" w="9525">
            <a:solidFill>
              <a:srgbClr val="18A9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83F9A-BCFE-4E43-8423-D709C84A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908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A9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已完成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AA407-93E1-4D64-BBD0-6535ED57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95650"/>
            <a:ext cx="24765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Login Channel、HS256、綁定、直接登入均已驗證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22745-8C4B-4D3C-A091-D9CB98A3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Apple</a:t>
            </a:r>
          </a:p>
        </p:txBody>
      </p:sp>
      <p:sp>
        <p:nvSpPr>
          <p:cNvPr id="14" name="apple-status">
            <a:extLst xmlns:a="http://schemas.openxmlformats.org/drawingml/2006/main">
              <a:ext uri="{FF2B5EF4-FFF2-40B4-BE49-F238E27FC236}">
                <a16:creationId xmlns:a16="http://schemas.microsoft.com/office/drawing/2014/main" id="{ADC187FA-15B5-4484-8AFD-B94501DB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574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4"/>
          </a:solidFill>
          <a:ln xmlns:a="http://schemas.openxmlformats.org/drawingml/2006/main" w="9525">
            <a:solidFill>
              <a:srgbClr val="B887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AEC31-691F-441D-A747-B33081D4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908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暫停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49C02-5143-4B32-ACA7-569D9A4F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95650"/>
            <a:ext cx="24765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程式骨架與 client-secret 產生器已完成，待 Developer 憑證</a:t>
            </a:r>
          </a:p>
        </p:txBody>
      </p:sp>
      <p:sp>
        <p:nvSpPr>
          <p:cNvPr id="17" name="apple-next">
            <a:extLst xmlns:a="http://schemas.openxmlformats.org/drawingml/2006/main">
              <a:ext uri="{FF2B5EF4-FFF2-40B4-BE49-F238E27FC236}">
                <a16:creationId xmlns:a16="http://schemas.microsoft.com/office/drawing/2014/main" id="{09CDD464-B6FA-4577-A158-FD2E6D33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90700"/>
            <a:ext cx="2247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solidFill>
              <a:srgbClr val="F1F2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B471B-FA5C-4BB1-81D4-9FF750AE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Apple 下一步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DD52A-15B4-4F46-ABC7-DFC59CEF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1752600" cy="217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 Developer Program
2. App ID
3. Services ID
4. Sign in with Apple Key
5. 公開 HTTPS callback
6. 產生 ES256 secret</a:t>
            </a:r>
          </a:p>
        </p:txBody>
      </p:sp>
      <p:sp>
        <p:nvSpPr>
          <p:cNvPr id="20" name="apple-note">
            <a:extLst xmlns:a="http://schemas.openxmlformats.org/drawingml/2006/main">
              <a:ext uri="{FF2B5EF4-FFF2-40B4-BE49-F238E27FC236}">
                <a16:creationId xmlns:a16="http://schemas.microsoft.com/office/drawing/2014/main" id="{E907DC63-C741-4FFD-A483-32B0C2B1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458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7A111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FF9AF-99F5-4FE3-B95E-704D4A64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00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A11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Apple Web Login 不接受 localhost 或 IP；本機測試需登記網域或 HTTPS tunnel。</a:t>
            </a:r>
          </a:p>
        </p:txBody>
      </p:sp>
    </p:spTree>
    <p:extLst>
      <p:ext uri="{BB962C8B-B14F-4D97-AF65-F5344CB8AC3E}">
        <p14:creationId xmlns:p14="http://schemas.microsoft.com/office/powerpoint/2010/main" val="9020411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6BF35-2CD5-4F90-ACD4-E4587043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81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87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DEMO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E9F03-41F0-44BE-A4C6-C816AFC3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9620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先綁定，再登出，最後直接登入</a:t>
            </a:r>
          </a:p>
        </p:txBody>
      </p:sp>
      <p:cxnSp>
        <p:nvCxnSpPr>
          <p:cNvPr id="21" name="demo-rule"/>
          <p:cNvCxnSpPr/>
          <p:nvPr/>
        </p:nvCxnSpPr>
        <p:spPr>
          <a:xfrm xmlns:a="http://schemas.openxmlformats.org/drawingml/2006/main">
            <a:off x="457200" y="1752600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63C11-048B-47B1-B2C3-6E197725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7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9964E-0D1F-4832-8990-950914CB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47900"/>
            <a:ext cx="3905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帳密登入 tester01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9E4DB-B1C6-4F69-9FF6-0DB39980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7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D6A62-5581-4F47-A7A7-38F66D60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447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會員中心選 Google 或 LINE 綁定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DA1D2-49A9-4A81-BF96-D3683200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7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707F4-7E1E-4A12-A8F3-87A1EA72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447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官方授權完成後確認「已綁定」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62801-0E39-49CB-B832-2DA131DB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7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C0ECC-85DE-4EC5-B70C-A2FADC4B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447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登出，從登入頁選同一 provider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FA76A-85F2-4EFA-90C8-1DC8CDD6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A9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BA730-79D7-4BA4-ACDB-8D65C4BB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48300"/>
            <a:ext cx="447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成功進入 /games，證明登入閉環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6649DF77-ADF3-49F2-B11E-ED1B62F3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47815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solidFill>
              <a:srgbClr val="F1F2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36A9E-ADE1-4CCC-806A-5F832147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417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最後帶走三件事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20124-5226-40EC-ADFA-CED09D07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40005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 provider sub 才是第三方身分主鍵
2. 綁定與登入分離，避免帳戶接管
3. 一次性 ticket 保護平台 JWT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6E242-F8EA-4E8A-863D-A8F4B35D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19700"/>
            <a:ext cx="4171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1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Google、LINE 已完成；Apple 可沿用同一核心繼續擴充。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AC92D-80E4-41E5-8F48-77DAE37F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03137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2026-07-24T07:23:38.6260000Z</dcterms:created>
  <dcterms:modified xsi:type="dcterms:W3CDTF">2026-07-24T07:23:38.6260000Z</dcterms:modified>
</coreProperties>
</file>