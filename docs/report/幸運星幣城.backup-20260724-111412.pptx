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53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Cambria"/>
              </a:defRPr>
            </a:pPr>
            <a:r>
              <a:rPr lang="en-US" altLang="zh-TW" sz="1300" b="0" i="0" u="none" strike="noStrike">
                <a:solidFill>
                  <a:srgbClr val="1B1F3B"/>
                </a:solidFill>
                <a:latin typeface="Cambria"/>
              </a:rPr>
              <a:t>HTTP </a:t>
            </a:r>
            <a:r>
              <a:rPr lang="zh-TW" altLang="en-US" sz="1300" b="0" i="0" u="none" strike="noStrike">
                <a:solidFill>
                  <a:srgbClr val="1B1F3B"/>
                </a:solidFill>
                <a:latin typeface="Cambria"/>
              </a:rPr>
              <a:t>失敗樣本比率（</a:t>
            </a:r>
            <a:r>
              <a:rPr lang="en-US" altLang="zh-TW" sz="1300" b="0" i="0" u="none" strike="noStrike">
                <a:solidFill>
                  <a:srgbClr val="1B1F3B"/>
                </a:solidFill>
                <a:latin typeface="Cambria"/>
              </a:rPr>
              <a:t>%</a:t>
            </a:r>
            <a:r>
              <a:rPr lang="zh-TW" altLang="en-US" sz="1300" b="0" i="0" u="none" strike="noStrike">
                <a:solidFill>
                  <a:srgbClr val="1B1F3B"/>
                </a:solidFill>
                <a:latin typeface="Cambria"/>
              </a:rPr>
              <a:t>）── 同一套 </a:t>
            </a:r>
            <a:r>
              <a:rPr lang="en-US" altLang="zh-TW" sz="1300" b="0" i="0" u="none" strike="noStrike">
                <a:solidFill>
                  <a:srgbClr val="1B1F3B"/>
                </a:solidFill>
                <a:latin typeface="Cambria"/>
              </a:rPr>
              <a:t>JMeter </a:t>
            </a:r>
            <a:r>
              <a:rPr lang="zh-TW" altLang="en-US" sz="1300" b="0" i="0" u="none" strike="noStrike">
                <a:solidFill>
                  <a:srgbClr val="1B1F3B"/>
                </a:solidFill>
                <a:latin typeface="Cambria"/>
              </a:rPr>
              <a:t>腳本，修正前後對照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修正前</c:v>
                </c:pt>
              </c:strCache>
            </c:strRef>
          </c:tx>
          <c:spPr>
            <a:solidFill>
              <a:srgbClr val="B23A3A"/>
            </a:solidFill>
            <a:effectLst/>
          </c:spPr>
          <c:invertIfNegative val="0"/>
          <c:dLbls>
            <c:numFmt formatCode="0.0#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150 併發</c:v>
                </c:pt>
                <c:pt idx="1">
                  <c:v>1,000 併發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89.3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B0-48AE-907D-DB6EB6FDD8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修正後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0#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150 併發</c:v>
                </c:pt>
                <c:pt idx="1">
                  <c:v>1,000 併發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0.05</c:v>
                </c:pt>
                <c:pt idx="1">
                  <c:v>68.5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B0-48AE-907D-DB6EB6FDD8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B1F3B"/>
                </a:solidFill>
                <a:latin typeface="Calibri"/>
              </a:defRPr>
            </a:pPr>
            <a:endParaRPr lang="zh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5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FB0"/>
                </a:solidFill>
                <a:latin typeface="Calibri"/>
              </a:defRPr>
            </a:pPr>
            <a:endParaRPr lang="zh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E68"/>
              </a:solidFill>
              <a:latin typeface="Calibri"/>
              <a:cs typeface="Calibri"/>
            </a:defRPr>
          </a:pPr>
          <a:endParaRPr lang="zh-TW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42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【開場講稿 · 約 20 秒】
「各位好，我們是幸運星幣城專題組，我是組長張鈞皓，這位是組員林暐彧。我們做的是一套高併發線上遊戲平台，用微服務架構實作，全程使用模擬幣、不涉及真實金流。接下來 30 分鐘，前半段由我帶各位看產品跟現場 demo，後半段由暐彧講架構跟壓測數據。」
【檢查清單】投影機/demo 環境已就緒；後端服務或前端 mock 至少一種可用。
【分工】張鈞皓負責前 12 分鐘（產品、demo、團隊），林暐彧負責後 15 分鐘（架構、帳務、壓測、品質），最後共同收尾。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【這頁的定位】附錄／備查頁，正式簡報時可略過或一句話帶過，主要留給技術問答時翻出來。
若被問到「你們用什麼技術做的」，直接翻這頁四塊唸標題即可：後端 Spring 生態、資料層雙庫 + Redis + Kafka、前端 React + PixiJS、以及建置測試維運工具鏈。
【口徑提醒】版本號都是從 pom.xml 與 package.json 抄出來的真實值，不要臨場改口；被追問某個套件版本時，以 repo 內的設定檔為準。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· 約 30 秒（照唸即可，約 145 字）】
「今天 30 分鐘分成四段。第一段我先講產品，帶各位看三款遊戲，重點會停在公平性驗證的現場 demo——我會當場重算一局給大家看。第二段講我們怎麼協作，Git 規範跟決策紀錄。第三段換暐彧講系統架構，七個微服務、雙資料庫，還有錢包的帳務一致性怎麼設計。最後一段是壓測，我們真的把系統壓到崩潰，再一層一層修回來，這段會講我們怎麼排查。中間有問題隨時打斷，細節的部分我們留到最後 Q&amp;A。」
【提示】語速放慢，四段各停半拍。目的是讓台下知道技術段落何時開始，心裡有底。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【這頁保留的理由】它是整場的情緒錨點——最後一頁總結會原句呼應「玩家最怕作弊、營運最怕流量一大就垮」，拿掉這頁，結尾的回扣就沒有對象了。
【怎麼講 · 約 90 秒】先把大字唸出來，停一拍，再講三個 bullet：① 模擬幣、不涉真實金流（先講清楚，免得評審整場都在想這件事）；② 重點是完整實作高併發平台的核心流程與微服務架構；③ 三款遊戲 + 即時派彩 + 排行榜。講完馬上接 Demo，不要在這頁久留。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三款遊戲各花約 1 分鐘現場展示畫面，輔助機制一句話帶過即可，不用逐一展開講邏輯，把時間留給下一頁的公平性驗證 demo。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【這頁的目的】全場最有戲劇性的一段。不要唸五個步驟的名字，要「演」給台下看。
【開場鉤子 · 15 秒】
「線上賭場最大的信任問題是：你怎麼知道莊家沒有在你下注後才決定結果？我們的做法是——讓莊家在你下注之前就把答案封起來，而且封條你可以自己驗。」
【現場操作腳本 · 約 2 分鐘】
① 承諾：開局畫面上會有一串 serverSeedHash。指著它說「這是這一局結果的封條，   它是 serverSeed 的 SHA-256。現在我還沒下注，但結果已經定了。」
② 下注：輸入一個 clientSeed（現場請評審喊一個數字最好，戲劇性最強），說明   「你的種子也會參與運算，所以連我都沒辦法單方面決定結果。」
③ 開獎：按下轉動，出結果。
④ 揭露：回應裡會帶原始 serverSeed。指著它說「封條拆開了，這就是剛才那串 hash 的原文。」
⑤ 驗證：打 GET /api/v1/game/verify/{roundId}，當場把 serverSeed + clientSeed + nonce   重新算一次 SHA-256，讓台下看到算出來的結果跟剛才開的一模一樣。
【收尾一句】「所以這不是我們說公平，是任何人拿這三個值都能自己算一次。」
【備援】若後端起不來，切前端 mock 模式照樣能演流程（誠實說明「這輪是前端模擬」）。事先跟暐彧講好由誰負責切換，不要在台上互看。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【定調 · 誠實但有利】專案原本規劃四人，實際交付到最後由兩人承接。
不要迴避這件事，也不要抱怨——把它講成「交付韌性」，這比四人順利完工更有說服力。
【講稿 · 約 90 秒】
「這個專題原本規劃四個人，做到後段實際上是我們兩個把全部收尾完成。人力減半的時候最容易發生的事，是為了趕進度開始省流程——省掉 code review、省掉寫文件、省掉測試。我們刻意沒有這樣做。
  第一，Git 流程照走：feature 分支、開 PR、進 develop，main 保護不能直推。
  第二，重大決策照樣寫 ADR，我們累積了 9 份。
  第三，我們把踩過的坑寫成 AGENTS.md 的 22 條雷區規範，讓 AI 工具照我們專案的規則走——這是兩個人能覆蓋七個微服務的關鍵。」
【一定要講的具體故事（人資最吃這段）】
「舉一個實際的例子：錢包扣款要用樂觀鎖還是悲觀鎖，我們吵過。悲觀鎖直覺、最安全，但高併發下會排隊卡死；樂觀鎖要處理重試邏輯，寫起來麻煩。最後選樂觀鎖，理由跟取捨都寫進 ADR。後來壓測到 1,000 併發，超扣是 0 筆——這個決定被數據驗證是對的。」
【收尾】講完準備交棒給暐彧。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A→B 交棒：「架構跟數據的部分交給 B 來講」。B 上台前確認電腦操作權/遙控器已交接。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【本頁重點：Gateway 為什麼要存在、它替後面六個服務擋掉了什麼】
不要逐項唸服務名稱，把時間全部花在 Gateway 這個金色方塊上。
【講稿 · 約 2 分鐘】
「先看最上面這條。前端從頭到尾只認識一個位址，就是 Gateway；它不知道後面有幾個服務、也不知道它們在哪個 port。這樣做有三個好處：
  ① 認證只做一次。JWT 驗證放在 Gateway，驗過之後把玩家 ID 用 header 傳給下游，所以後面六個服務不必各自實作一套登入邏輯，也不會有人漏做。
     這裡有個我們特別做的決定：登出的 token 撤銷檢查會去查 Redis，而且是 fail-closed——Redis 掛掉的時候我們選擇「拒絕」而不是「放行」。寧可誤擋，也不能讓已經登出的 token 復活。
  ② 流量保護集中在這一層。限流、併發上限、熔斷都在 Gateway，後端服務被打爆之前就先被擋下來。這一點在後面壓測那段會變成主角。
  ③ 服務彼此不直接對外。服務之間的同步呼叫走 /internal/** 路徑，要帶內部密鑰，外面打不進來。」
【被追問時的兩個備料】
· 「後台管理為什麼特別？」→ 後台 JWT 是另一套 secret，Gateway 驗不了，所以 /admin/ 走白名單純轉發，認證由 admin-service 自己的 Spring Security 做。
· 「熔斷怎麼設的？」→ Resilience4j，慢呼叫門檻 3 秒、TimeLimiter 6 秒。這個 6 秒是壓測踩雷後才加上去的（預設 1 秒會誤判），壓測那段會講。
【下一頁預告】「這裡寫了雙資料庫，下一頁我把它拆開講。」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【一句話定調】「同一份帳，有兩個副本：一個負責算對，一個負責被查。」
【講稿 · 約 2 分鐘】
「為什麼不用一個資料庫就好？因為這兩件事的需求是打架的。
  左邊 Postgres 是寫庫，它只做一件事：確保錢算得對。你看 wallets 表有個 version 欄位，那是樂觀鎖，兩個請求同時扣款時只有一個能成功；wallet_transactions 有個 idempotency_key 是唯一鍵，同一筆派彩重送幾次都只會入帳一次。這兩個欄位就是我們帳務安全的地基。
  右邊 MySQL 是讀庫。玩家要看交易紀錄、後台要拉報表，這些查詢又慢又重。如果直接打 Postgres，報表跑一跑就會跟下注搶連線。所以我們把它們分開。
  中間靠 Kafka 串。錢包入帳成功後發事件，讀庫這邊有個 listener 收下來寫進去，而且用 id 做冪等檢查，同一個事件重放也不會寫成兩筆。」
【誠實補一句（加分）】
「這個設計不是免費的。讀庫會比寫庫晚個幾百毫秒，這叫最終一致。我們接受這個代價，因為交易紀錄晚一點看到沒關係，但帳不能算錯。」
【被追問時的備料】
· 「為什麼不用讀寫分離的主從複本就好？」→ 那樣兩邊 schema 綁死；我們的讀庫是為查詢設計的視圖，欄位跟索引都可以獨立長。
· 「事件掉了怎麼辦？」→ 有死信佇列，另外有對帳 script 可以盤出寫庫有、讀庫沒有的資料。
· 「這是誰決定的？」→ ADR-001，理由跟被否決的方案都寫在裡面。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【這頁與前一頁的分工】前一頁（ER 概要）給的是「兩個庫裡各有哪些表、哪些欄位是安全地基」；這一頁給的是「一筆帳從寫庫怎麼流到讀庫」的架構視角。先講前一頁的靜態結構，再用這頁把它串成一條資料流。
【講稿 · 約 60 秒，沿著四個方塊由左至右走】
「① wallet-service 是唯一能碰錢的服務——下注扣款、贏分派彩、贈幣、商城兌換，全部收斂到它一個入口。
  ② 它把帳寫進 PostgreSQL 寫庫，這裡有樂觀鎖跟冪等鍵這兩道地基；同一筆交易裡，事件也一起寫進 wallet_outbox，這叫 Transactional Outbox，保證「帳寫成功、事件一定留得住」。
  ③ 有個排程把 outbox 裡的 PENDING 撈出來丟到 Kafka，確認送達才標記 SENT。
  ④ 讀庫這邊有 listener 收事件、用 existsById 做冪等檢查寫進 MySQL 的讀視圖。」
【收尾金句】「這樣拆的好處在最下面那條：查詢再重，也只會拖慢讀庫，碰不到寫庫，玩家下注永遠不會被報表卡住。代價是讀庫會晚幾百毫秒，這個我們願意換。」
【被追問時的備料】投遞是 at-least-once，同一事件可能重送，靠讀端冪等吸收；outbox 舊寫法是 commit 後裸發 Kafka、失敗會無聲丟失，改成 outbox 後才補上這個缺口（藍圖 04 P2）。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【這頁的用途】把前一頁的靜態架構圖，變成一條會動的路徑。技術主管想聽的是「你知不知道自己的請求走過哪些地方」。
【講稿 · 約 2 分鐘，用手指沿著上面那條線走】
「我用一筆下注把整條路走一次。
  ① 玩家在前端按下轉動。
  ② 打到 Gateway。這裡驗 JWT，同時做限流。
  ③ 進 game-service，算出這一局的結果。
  ④ game 呼叫 wallet 扣款，贏了再呼叫一次派彩。
  ⑤ wallet 寫進 Postgres，交易 commit，錢才算真的動了。
  這五步是同步的，玩家在等，所以我們希望它越短越好。」
【接著講兩條支線 —— 這是本頁真正的重點】
「中間那條 Redis 是同步支線，它擋在關鍵路徑上，所以它出錯就要當場拒絕請求。三個用途：token 有沒有被登出撤銷、風控的併發閘、還有遊戲 session。
  下面那條 Kafka 是非同步支線。錢包入帳完成後發事件出去，排行榜服務收到就更新分數、讀庫收到就同步一筆、通知服務收到就推播給玩家。這三件事玩家都不需要等——所以我們刻意不放進同步鏈路。
  如果排行榜服務掛了，玩家照樣可以下注，這就是事件驅動買到的東西。」
【收尾金句】「判斷一件事要不要放進同步鏈路，我們的標準只有一個：這件事錯了，玩家的錢會不會算錯？會，就同步；不會，就丟給 Kafka。」
【被追問時的備料】
· 「Redis 掛了會怎樣？」→ token 檢查是 fail-closed，會拒絕請求。這是刻意選的：寧可誤擋，也不能讓登出的 token 復活。
· 「Kafka 掉訊息怎麼辦？」→ 消費端做冪等，另有死信佇列與對帳 script。
· 「為什麼 game 不直接寫錢包的資料庫？」→ 服務邊界。錢只有 wallet 能碰，這樣帳務的冪等與樂觀鎖才有單一守門人。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【開場情境】「如果玩家在兩台裝置上同時按下注，錢會不會被扣兩次？」先丟問題，再講三個機制。
【① 樂觀鎖 · 30 秒】
「wallets 表有個 version 欄位。更新餘額時條件會帶上「version 要等於我讀到的那個值」，兩個請求同時進來，只有一個能成功，另一個會發現版本被改過、重讀重試。為什麼不用悲觀鎖直接鎖住？因為高併發下大家會排隊，吞吐直接死掉。」
【② 冪等鍵 · 30 秒】
「每筆扣款/派彩都帶一個唯一鍵，這個鍵在資料庫上是 UNIQUE 約束。所以就算網路重送、或使用者狂點，同一個鍵只會成功入帳一次。注意這個鍵是伺服器端產生的（例如 slot-win-該局ID），不是客戶端傳的，客戶端偽造不了。」
【③ 補償機制 · 這題是本頁的深水區，值得講 60–90 秒】
「前兩個機制解決的是『重複』，但還有一種更麻煩的狀況：玩家贏了，我們要派彩，結果這一瞬間錢包服務剛好掛掉或逾時。錢沒進玩家帳戶，而這是我們欠他的。
  以前這種狀況只會留下一行 log，然後就沒有然後了。我們補的機制是這樣：
  第一，派彩失敗時，在 catch 裡面立刻寫一張『補償單』到資料庫，記下欠誰、欠多少、還有原本那個冪等鍵。這張單子用獨立交易寫，所以就算主流程整個 rollback、請求回 500，補償單還是留著。
  第二，有個排程每 30 秒撈出還沒成功的補償單，重新呼叫一次派彩。失敗就退避重試，30 秒、60 秒這樣往上加到 30 分鐘，重試 10 次還不行就標成 FAILED、轉人工處理。
  這裡最關鍵的一個設計決定是：重試時用的冪等鍵，跟當初失敗那次「完全一樣」。」
【一定要講出這句 —— 這是整段的技術亮點】
「為什麼一定要同一個鍵？因為失敗有兩種可能：一種是真的沒進去，一種是其實進去了、只是回應在半路逾時了。如果換一把鍵去重試，第二種狀況就會變成重複入帳。用同一把鍵，資料庫的唯一約束會擋下來，我們拿回原本那筆流水。所以這個補償可以無腦重試，永遠是安全的——它不需要先去問錢包『你到底收到沒有』。」
【收尾】「這叫最小 Saga 補償，寫在 ADR-009。它不是分散式交易，是『至少嘗試一次 + 冪等去重』，但對我們的場景已經夠了，而且實作成本低很多。」
【被追問時的備料】
· 「為什麼不用 Kafka 做補償？」→ 補償需要看得到重試狀態跟次數，走事件會把這些狀態散進 broker，而且會多一條帳務路徑要防迴圈。HTTP + 資料庫排程最小、也最容易盤點。
· 「怎麼知道真的沒漏？」→ 有對帳 script，跑 7 項檢查比對三張表，有違規就 exit 1，可以接進 CI 或排程告警。
· 「扣款失敗呢？」→ 扣款失敗會直接中止、不產生對局，那是安全的；危險的只有「已經扣了、該給的沒給」這個方向。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【講法】用大數字製造衝擊感。先誠實講「我們真的量到 89% 失敗率」，不要急著護航，讓台下先感受到問題是真的，下一頁再講怎麼解。敢講問題比只講成果更可信。
【講稿 · 約 60 秒】
「這個 89% 不是估的，是實際跑出來的。我們用 JMeter 開 1,000 個執行緒，每個執行緒代表一個不同的玩家，同時對老虎機下注 60 秒。結果將近九成的請求失敗。」
【★ 這頁最可能被追問「你們怎麼跑的」，以下是必背的操作細節 ★】
（測試環境：單機。7 個後端服務 + Docker 起的 Postgres / MySQL / Redis / Kafka + JMeter  全部擠在同一台開發機上跑，這點要主動講，否則數字會被誤解。）
  步驟 1｜起環境：docker compose up -d 把基礎設施跟七個服務拉起來，確認每個服務的 /actuator/health 都回 200。
  步驟 2｜備玩家：跑一支 provision 腳本註冊 1,000 個帳號、各自登入拿 JWT，再透過後台 GM 發幣每人發 100 萬星幣，最後寫成 players.csv（playerId, token 兩欄）。  這步驟本身就會踩到限流，腳本要做指數退避。JWT 只有 15 分鐘效期，所以備完要馬上跑，不然 token 會過期。
  步驟 3｜跑測試：JMeter 讀 players.csv，1,000 執行緒、ramp-up 1 秒、持續 60 秒、每個玩家每秒一輪。一輪打三個請求：兩次不同的 spin，加一次查餘額。
  步驟 4｜收結果：跑完產出 JTL 原始檔跟 HTML 報表，再跑一支分析腳本判 gate（P99、5xx、失敗數、超扣、冪等失敗）。
  步驟 5｜對帳：另外跑一份 SQL 去比對 wallets 餘額跟交易流水的加總對不對得上。
【如果被問到「這是你自己跑的嗎」】
照實說是團隊一起跑的、你負責哪一部分。不要含糊帶過，但要能講出上面五個步驟——能講清楚流程比宣稱親手打指令重要得多。所有原始資料都在 docs/performance/T-090-load-test-report.md 跟 tests/performance/results/ 底下。
【絕對不要說的話】不要說「這是模擬的數字」或「大概是這個量級」。數字是真的，有 JTL 檔、有 Prometheus 佐證，講得心虛反而失分。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【講法】這段是敘事，不是結論。順序要是：發現 → 假設 → 驗證 → 修正 → 再驗證。
四個方塊只是骨架，真正得分的是下面這個具體案例，一定要講。
【★ 必講的破案故事 · 約 2 分鐘 ★】
「我們一開始的假設是『單機資源不夠，CPU 被打滿了』——這是最直覺的解釋，但它其實是懶惰的答案，因為它不可修。所以我們去看監控指標。
  Prometheus 上看到一個很奇怪的現象：熔斷器判定為「失敗」的呼叫非常多，但後端真正拋錯的其實很少。這代表這些呼叫不是壞掉，是「被判定為壞掉」。
  往下追才發現根因：Spring Cloud Gateway 的熔斷器，我們設了慢呼叫門檻 3 秒，但沒有顯式設定逾時時間，而底層 Resilience4j 的預設逾時是 1 秒。
  也就是說：一個花 2 秒完成的正常請求，在第 1 秒就被腰斬、記成失敗。失敗率一高就觸發熔斷開路，開路後短暫放行一點流量、再關路，關路瞬間累積的請求一次湧入，延遲又爆掉，於是又開路——它在反覆震盪。
  修法其實只有一行設定：把 TimeLimiter 的逾時設成 6 秒，比慢呼叫門檻 3 秒高。讓慢的呼叫有機會真的跑完，該不該熔斷交給慢呼叫統計去判，而不是被逾時提前砍掉。」
【效果 · 講數字】
「改完之後，150 併發的 5xx 從 13,563 筆直接歸零，失敗率 78% 掉到 0.05%。1,000 併發也從 89.3% 降到 68.5%——沒有全解，但誤判這個環節確實消失了，Prometheus 上熔斷器判定失敗的呼叫數變成 0。」
【第三步「導入防護」講什麼】
「接著我們在 Gateway 加了併發上限：在途請求超過上限就直接回 429 請客戶端稍後再試，而且擋在 JWT 驗證之前，連驗證的成本都省下來。後來再升級成會自己調整的版本——延遲超標就縮上限，達標就慢慢放寬。」
【這頁的收尾金句】
「我想強調的不是我們修好了什麼，是排查的方法：先看監控、再提假設、用數據驗證假設，不要靠猜。第一個假設（資源不夠）是錯的，如果當時就接受了，這個 bug 到現在還在。」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【★ 誠信提醒：這頁的標題與數字必須一致 ★】
「降到個位數」只有在 150 併發成立（78.0% → 0.05%）。1,000 併發修正後仍是 68.5%。標題已改成雙軌陳述，講的時候也要照這個口徑，不要含糊帶成「我們把失敗率降到個位數」——圖表就在旁邊，會當場被抓。
【講稿 · 約 90 秒】
「同一套腳本、同一套系統，只是設定修正前後的對照。
  左邊 150 併發：失敗率從 78% 降到 0.05%，就是 4 筆，5xx 完全歸零。這個量級我們是全綠的。
  右邊 1,000 併發：89.3% 降到 68.5%。我要誠實說，這個數字還不好看，效能 gate 到現在還是判 FAIL。
  但它下降的原因是有機制的：後來再加上自適應併發限流之後，被系統接受的請求，成功率從 23.9% 升到 78.4%。換句話說，系統在超載時的行為，從『崩潰』變成了『有秩序地拒絕』。
  而且從頭到尾，帳務完整性一次都沒破：超扣 0 筆、重複扣款 0 筆。系統寧可把請求丟掉，也沒有把帳弄壞——這是我們最在意的一條線。」
【★ P12 常見追問：JMeter 到底怎麼做的？必背 ★】
「測試計畫是一份 .jmx 檔，放在 tests/performance/slot-1000-players.jmx，純用 JMeter 5.6.3 內建元件、沒裝任何外掛，所以任何人拿去都能重跑。裡面的結構是：
  ·『執行緒群組』設 1,000 個執行緒 = 1,000 個同時在線的玩家，    ramp-up 1 秒（1 秒內全部衝上來，刻意製造尖峰），持續 60 秒。
  ·『CSV Data Set』讀 players.csv，每個執行緒配到一個不同的 playerId 跟 JWT，    所以是 1,000 個不同玩家，不是同一個人打 1,000 次。
  ·『HTTP 請求取樣器』三個：兩次老虎機 spin（各帶不同的 clientSeed）、    一次查餘額。打的是 Gateway 的 8080，不是直接打服務。
  ·『HTTP 標頭管理員』把 Authorization: Bearer token 帶進去。
  ·『回應斷言』：狀態碼必須 2xx，而且餘額不能是負的——    這條斷言就是我們的超扣偵測，任何一次為負整輪就算失敗。
  ·『固定計時器』做 pacing，每個玩家每秒一輪，模擬真人節奏。
  跑完會產出兩個東西：JTL 原始逐筆紀錄，跟 HTML 儀表板。我們另外寫了一支 Node 腳本讀 JTL 自動判 gate，所以「這輪過沒過」不是人看圖決定的，是腳本算的。」
【為什麼冪等鍵不在 JMeter 裡（可能被問）】
「冪等鍵是伺服器端產生的，客戶端傳不進來，所以我們沒辦法用重放同一個鍵來測冪等。改成用『每輪兩次獨立下注 + 餘額不得為負』來驗高併發下的帳務正確性，另外再用資料庫對帳 SQL 從結果面驗一次。」
【收尾金句】「這一頁真正的價值不是那兩根柱子變矮了，是同樣的腳本可以再跑一次、拿到可比較的結果。這是可覆盤的工程，不是一次僥倖。」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【上台時的講法】不要六項全展開，會超時。整頁一句話帶過：
「品質不能靠人記得，要靠流程擋住。這六道關卡有五道是自動的，人忘記也會被擋下來。」
然後挑一個最有故事的展開（建議選 Contract Parity Test，最少見、最能顯示工程判斷）。
【★ 六項各自的由來（被追問時用，也是你自己要懂的部分）★】
① JUnit 單元測試 —— 由來：遊戲的賠率邏輯改一個權重，整個 RTP 就會偏掉，而這種錯誤肉眼看不出來。所以老虎機有測試去驗「跑很多局之後，實際 RTP 落在預期區間內」。權重一改、測試就紅。這是唯一能守住數值正確性的方法。
② 冒煙測試 —— 由來：微服務最常見的死法不是邏輯錯，是「根本起不來」——設定漏一個變數、Bean 名稱撞號、資料源設定錯。所以每個服務都有一個最基本的測試：把 Spring context 載起來。它很便宜，但擋掉的是最致命的一類問題。
   延伸：測試一律用 H2 記憶體資料庫，不連任何外部服務，所以 CI 上不用起 Postgres 也能跑。
③ Docker 容器化 —— 由來：「在我電腦上是好的」。七個服務加四個基礎設施，人工裝環境不可能每次都一致。容器化之後 docker compose up 就是完整拓樸，壓測要重跑也才有可比較的基準。
④ CI/CD 自動化 —— 由來：人會忘記跑測試，尤其趕進度的時候。所以開 PR 就自動跑全部測試，紅燈不准合併。把「記得要測」從自覺變成機制——這是人力減半之後我們最依賴的一道關卡。
⑤ ADR 決策紀錄 —— 由來：三個月後沒有人記得當初為什麼選樂觀鎖，然後就會有人「順手改成」悲觀鎖，把當初的取捨推翻掉。ADR 記的不只是結論，還有被否決的方案跟否決的理由。它真正的價值是防止「無知的回退」。
⑥ Contract Parity Test —— 由來：這是我們踩過的坑。前端為了離線也能玩，有一套 mock 資料重現遊戲規則；但後端改了賠付表之後，沒有人記得去改前端的那份，結果玩家在前端看到的賠率跟後端實際算的不一樣。
   我們的解法是：把賠付表、補牌規則、魚種數值這些抽出來變成 JSON 契約檔，前端直接讀它，後端寫一支測試逐欄比對「後端的常數 == JSON」。兩邊只要漂移，CI 立刻紅燈。這是六項裡最值得展開講的一項。
【底部那條結論帶要唸出來】
「這套制度真正守住的東西是這個：壓測全程，帳務完整性的 gate 一次都沒破。效能可以慢慢調，帳算錯是不能接受的。」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A+B 共同收尾，呼應開場那句定位。強調「以 Java 微服務為核心的全端與分散式系統開發能力」。準備轉 Q&amp;A，深問留到會後單獨聊。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分流原則：先回一句所有人都懂的結論，若對方追問技術細節，回應「細節我們可以會後單獨聊」，避免深挖把其他角色晾在旁邊。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27.png"/><Relationship Id="rId9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13232" cy="71323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C:\Users\User\Documents\Lucky_star_Casino\docs\report\assets\簡報產生器\icons\diam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842711"/>
            <a:ext cx="399410" cy="3994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12848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LUCKY STAR CASINO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148132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41248" y="33101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高併發線上遊戲平台．微服務架構專題報告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41248" y="4315968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Shape 8"/>
          <p:cNvSpPr/>
          <p:nvPr/>
        </p:nvSpPr>
        <p:spPr>
          <a:xfrm>
            <a:off x="6035040" y="4315968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74687F27-016A-4DC9-9F66-DADB52484618}"/>
              </a:ext>
            </a:extLst>
          </p:cNvPr>
          <p:cNvSpPr/>
          <p:nvPr/>
        </p:nvSpPr>
        <p:spPr>
          <a:xfrm>
            <a:off x="833567" y="512978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DCE8B7D5-4B73-4214-9422-586E8A09FB9F}"/>
              </a:ext>
            </a:extLst>
          </p:cNvPr>
          <p:cNvSpPr/>
          <p:nvPr/>
        </p:nvSpPr>
        <p:spPr>
          <a:xfrm>
            <a:off x="6035040" y="512978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6944363E-516F-4CD3-AA48-3810337CD951}"/>
              </a:ext>
            </a:extLst>
          </p:cNvPr>
          <p:cNvSpPr/>
          <p:nvPr/>
        </p:nvSpPr>
        <p:spPr>
          <a:xfrm>
            <a:off x="1170433" y="5017811"/>
            <a:ext cx="4657344" cy="369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黃崇瑜</a:t>
            </a:r>
            <a:endParaRPr lang="en-US" sz="2200" dirty="0"/>
          </a:p>
          <a:p>
            <a:pPr marL="0" indent="0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20CFF33A-0694-4CC3-B656-D33A53F0B93D}"/>
              </a:ext>
            </a:extLst>
          </p:cNvPr>
          <p:cNvSpPr/>
          <p:nvPr/>
        </p:nvSpPr>
        <p:spPr>
          <a:xfrm>
            <a:off x="1161288" y="4207364"/>
            <a:ext cx="4657344" cy="369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張鈞皓</a:t>
            </a:r>
            <a:endParaRPr lang="en-US" sz="2200" dirty="0"/>
          </a:p>
          <a:p>
            <a:pPr marL="0" indent="0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20BC77B-2217-47F8-AB61-B318E4C020E7}"/>
              </a:ext>
            </a:extLst>
          </p:cNvPr>
          <p:cNvSpPr/>
          <p:nvPr/>
        </p:nvSpPr>
        <p:spPr>
          <a:xfrm>
            <a:off x="6373368" y="4223565"/>
            <a:ext cx="4657344" cy="369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林暐彧</a:t>
            </a:r>
            <a:endParaRPr lang="en-US" sz="2200" dirty="0"/>
          </a:p>
          <a:p>
            <a:pPr marL="0" indent="0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29A1CAEE-4784-4A5A-9530-E4D0C016823D}"/>
              </a:ext>
            </a:extLst>
          </p:cNvPr>
          <p:cNvSpPr/>
          <p:nvPr/>
        </p:nvSpPr>
        <p:spPr>
          <a:xfrm>
            <a:off x="6388607" y="5017811"/>
            <a:ext cx="4657344" cy="369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許銘仁</a:t>
            </a:r>
            <a:endParaRPr lang="en-US" sz="2200" dirty="0"/>
          </a:p>
          <a:p>
            <a:pPr marL="0" indent="0">
              <a:lnSpc>
                <a:spcPts val="28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附錄・技術棧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開發環境與使用套件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皆為業界主流開源套件；版本以 pom.xml／package.json 為單一真相來源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08676" cy="1874520"/>
          </a:xfrm>
          <a:prstGeom prst="roundRect">
            <a:avLst>
              <a:gd name="adj" fmla="val 5854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220553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0312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後端框架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31636" y="1828800"/>
            <a:ext cx="5408676" cy="1874520"/>
          </a:xfrm>
          <a:prstGeom prst="roundRect">
            <a:avLst>
              <a:gd name="adj" fmla="val 5854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87668" y="208483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C:\Users\User\Documents\Lucky_star_Casino\docs\report\assets\簡報產生器\icons\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369" y="220553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91756" y="210312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資料與訊息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24244" y="2743200"/>
            <a:ext cx="2525163" cy="95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r>
              <a:rPr lang="en-US" altLang="zh-TW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帳務寫庫</a:t>
            </a:r>
            <a:r>
              <a:rPr lang="en-US" altLang="zh-TW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8.4（CQRS 讀庫）　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7（Token／Session／排行）</a:t>
            </a:r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408676" cy="1874520"/>
          </a:xfrm>
          <a:prstGeom prst="roundRect">
            <a:avLst>
              <a:gd name="adj" fmla="val 5854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23367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2" descr="C:\Users\User\Documents\Lucky_star_Casino\docs\report\assets\簡報產生器\icons\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435437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25196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前端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" y="4892040"/>
            <a:ext cx="23964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18.3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5.4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31636" y="3977640"/>
            <a:ext cx="5408676" cy="1874520"/>
          </a:xfrm>
          <a:prstGeom prst="roundRect">
            <a:avLst>
              <a:gd name="adj" fmla="val 5854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87668" y="423367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3" descr="C:\Users\User\Documents\Lucky_star_Casino\docs\report\assets\簡報產生器\icons\gea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369" y="4354373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91756" y="425196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建置・測試・維運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524244" y="4892040"/>
            <a:ext cx="24117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</a:t>
            </a: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多模組</a:t>
            </a:r>
            <a:endParaRPr lang="en-US" sz="1150" dirty="0">
              <a:solidFill>
                <a:srgbClr val="4A4E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H2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</a:t>
            </a: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1.21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幸運星幣城｜附錄：技術棧</a:t>
            </a:r>
            <a:endParaRPr lang="en-US" sz="10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AACB1C0D-13CD-4C39-ABB9-BF7B26472C42}"/>
              </a:ext>
            </a:extLst>
          </p:cNvPr>
          <p:cNvSpPr/>
          <p:nvPr/>
        </p:nvSpPr>
        <p:spPr>
          <a:xfrm>
            <a:off x="9049407" y="2617076"/>
            <a:ext cx="2525163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zh-TW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altLang="zh-TW" sz="1150" dirty="0"/>
          </a:p>
          <a:p>
            <a:pPr>
              <a:lnSpc>
                <a:spcPts val="1800"/>
              </a:lnSpc>
            </a:pPr>
            <a:r>
              <a:rPr lang="en-US" altLang="zh-TW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 + Prometheus</a:t>
            </a:r>
          </a:p>
          <a:p>
            <a:pPr>
              <a:lnSpc>
                <a:spcPts val="1800"/>
              </a:lnSpc>
            </a:pPr>
            <a:r>
              <a:rPr lang="en-US" altLang="zh-TW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</a:t>
            </a:r>
            <a:r>
              <a:rPr lang="en-US" altLang="zh-TW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儀表板</a:t>
            </a:r>
            <a:endParaRPr lang="en-US" sz="115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54513F48-5882-4139-B7DC-F1FD0AE61853}"/>
              </a:ext>
            </a:extLst>
          </p:cNvPr>
          <p:cNvSpPr/>
          <p:nvPr/>
        </p:nvSpPr>
        <p:spPr>
          <a:xfrm>
            <a:off x="3237739" y="4846320"/>
            <a:ext cx="26349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PixiJS</a:t>
            </a: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8.19（捕魚引擎）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</a:t>
            </a:r>
            <a:endParaRPr lang="en-US" sz="115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50314298-FE8E-489A-96C7-897CA127ED27}"/>
              </a:ext>
            </a:extLst>
          </p:cNvPr>
          <p:cNvSpPr/>
          <p:nvPr/>
        </p:nvSpPr>
        <p:spPr>
          <a:xfrm>
            <a:off x="8935974" y="4846320"/>
            <a:ext cx="26385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JMeter 5.6.3（壓測）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Node.js（工具腳本</a:t>
            </a: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5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2A823994-FF37-42E7-A96F-29A693005259}"/>
              </a:ext>
            </a:extLst>
          </p:cNvPr>
          <p:cNvSpPr/>
          <p:nvPr/>
        </p:nvSpPr>
        <p:spPr>
          <a:xfrm>
            <a:off x="804672" y="2726741"/>
            <a:ext cx="23964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2023.0.3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15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BE91360A-E68D-4BA7-9B06-2EF105FAA77C}"/>
              </a:ext>
            </a:extLst>
          </p:cNvPr>
          <p:cNvSpPr/>
          <p:nvPr/>
        </p:nvSpPr>
        <p:spPr>
          <a:xfrm>
            <a:off x="3237739" y="2743200"/>
            <a:ext cx="2634916" cy="95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Kafka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0.12.6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 </a:t>
            </a: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熔斷／限流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議程總覽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30 分鐘，我們想帶各位看什麼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73327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Documents\Lucky_star_Casino\docs\report\assets\簡報產生器\icons\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261" y="2602382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產品與現場展示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4944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三款遊戲、公平性驗證 Demo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5566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12" name="Text 9"/>
          <p:cNvSpPr/>
          <p:nvPr/>
        </p:nvSpPr>
        <p:spPr>
          <a:xfrm>
            <a:off x="3385566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10253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C:\Users\User\Documents\Lucky_star_Casino\docs\report\assets\簡報產生器\icons\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187" y="2602382"/>
            <a:ext cx="409651" cy="4096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1870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團隊協作與紀律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531870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規範、決策紀錄、分工方式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22492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222492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147179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2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113" y="2602382"/>
            <a:ext cx="409651" cy="4096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8796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系統架構與帳務設計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368796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大微服務、CQRS 雙庫、一致性保證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059418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059418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984105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8" name="Image 3" descr="C:\Users\User\Documents\Lucky_star_Casino\docs\report\assets\簡報產生器\icons\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5039" y="2602382"/>
            <a:ext cx="409651" cy="40965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05722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壓測戰役與工程品質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205722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失敗率的逐層排查與收斂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幸運星幣城｜專題報告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486400" cy="5486400"/>
          </a:xfrm>
          <a:prstGeom prst="ellipse">
            <a:avLst/>
          </a:prstGeom>
          <a:solidFill>
            <a:srgbClr val="3A407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專案定位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1155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玩家最怕遊戲作弊，</a:t>
            </a:r>
            <a:endParaRPr lang="en-US" sz="42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營運最怕流量一大就垮。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34015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幸運星幣城把這兩件事，做成了可以被驗證的工程成果。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85800" y="4443984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43159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以模擬幣運作的線上娛樂遊戲平台，不涉及真實金流與賭博機制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102352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49743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重點在完整實作高併發線上遊戲平台的核心流程與微服務架構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5760720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56327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玩家可遊玩老虎機、百家樂、捕魚機，系統即時派彩、更新錢包與排行榜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幸運星幣城｜專案定位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三款核心遊戲，加上完整的黏著機制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Documents\Lucky_star_Casino\docs\report\assets\簡報產生器\icons\s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54" y="2121042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2279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老虎機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逐格加權判定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兩階賠付結構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7304" y="1691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1624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Documents\Lucky_star_Casino\docs\report\assets\簡報產生器\icons\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418" y="2121042"/>
            <a:ext cx="348204" cy="348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88864" y="1965960"/>
            <a:ext cx="2279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百家樂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11624" y="278892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規則牌桌邏輯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補牌表、5% 傭金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0288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Documents\Lucky_star_Casino\docs\report\assets\簡報產生器\icons\fish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082" y="2121042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77528" y="1965960"/>
            <a:ext cx="2279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捕魚機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00288" y="278892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高頻互動玩法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buy-in 與批次結算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三款遊戲之外：完整的玩家黏著機制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3" descr="C:\Users\User\Documents\Lucky_star_Casino\docs\report\assets\簡報產生器\icons\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78" y="5186934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每日簽到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385566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3586734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C:\Users\User\Documents\Lucky_star_Casino\docs\report\assets\簡報產生器\icons\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9604" y="518693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2806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好友贈幣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222492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9" name="Shape 22"/>
          <p:cNvSpPr/>
          <p:nvPr/>
        </p:nvSpPr>
        <p:spPr>
          <a:xfrm>
            <a:off x="6423660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5" descr="C:\Users\User\Documents\Lucky_star_Casino\docs\report\assets\簡報產生器\icons\diamo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530" y="5186934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99732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鑽石點數卡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9059418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33" name="Shape 25"/>
          <p:cNvSpPr/>
          <p:nvPr/>
        </p:nvSpPr>
        <p:spPr>
          <a:xfrm>
            <a:off x="9260586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6" descr="C:\Users\User\Documents\Lucky_star_Casino\docs\report\assets\簡報產生器\icons\troph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3456" y="5186934"/>
            <a:ext cx="251460" cy="2514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836658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全服／好友排行榜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幸運星幣城｜產品與現場展</a:t>
            </a:r>
            <a:r>
              <a:rPr lang="zh-TW" alt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DEMO・全場焦點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公平性怎麼證明？現場重算給大家看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Provably Fair：先承諾、後揭露，任何人都能事後驗證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35938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8" name="Image 0" descr="C:\Users\User\Documents\Lucky_star_Casino\docs\report\assets\簡報產生器\icons\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954" y="282549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承諾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開局前公布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serverSeed 的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值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80437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799893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99893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587191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15" name="Image 1" descr="C:\Users\User\Documents\Lucky_star_Casino\docs\report\assets\簡報產生器\icons\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207" y="282549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99893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下注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909621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玩家提供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clientSeed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加入運算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31690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051146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051146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838444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22" name="Image 2" descr="C:\Users\User\Documents\Lucky_star_Casino\docs\report\assets\簡報產生器\icons\rand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2825496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51146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開獎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160874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SHA-256(server+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client+nonce)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決定結果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7082942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302398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302398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089697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29" name="Image 3" descr="C:\Users\User\Documents\Lucky_star_Casino\docs\report\assets\簡報產生器\icons\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7713" y="2825496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02398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揭露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412126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公布原始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serverSeed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供比對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334195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553651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C9A227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9553651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10340950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36" name="Image 4" descr="C:\Users\User\Documents\Lucky_star_Casino\docs\report\assets\簡報產生器\icons\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8966" y="2825496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553651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9663379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/verify 端點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現場重算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結果一致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幸運星幣城｜公平性驗證</a:t>
            </a: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團隊協作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人力減半，規格不減：兩人承接四人份的工作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Documents\Lucky_star_Casino\docs\report\assets\簡報產生器\icons\g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45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規範化 Git 協作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63640" y="1645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分支 → PR → develop，main 受保護；每次合併都留下可追溯的紀錄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260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Documents\Lucky_star_Casino\docs\report\assets\簡報產生器\icons\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046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決策紀錄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263640" y="2743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份架構決策文件，寫下「為什麼選這個、放棄了什麼」，接手的人不必重問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Documents\Lucky_star_Casino\docs\report\assets\簡報產生器\icons\ge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1440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工具化補人力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63640" y="38404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22 條專案雷區寫成 AGENTS.md 規範，讓 AI 工具照專案規則走，兩人覆蓋七個服務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B1F3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C:\Users\User\Documents\Lucky_star_Casino\docs\report\assets\簡報產生器\icons\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535106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074920"/>
            <a:ext cx="10040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人少了，沒有砍掉任何一道關卡：決策照樣寫進 ADR、每個 PR 照樣過 review、CI 照樣擋紅燈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幸運星幣城｜團隊協作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943600" cy="594360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248259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架構、帳務設計與壓測數據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六大微服務，Gateway 統一入口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21・Spring Boot 3・Monorepo 管理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79876" y="182880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C9A227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7620" y="1965960"/>
            <a:ext cx="457200" cy="457200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7" name="Image 0" descr="C:\Users\User\Documents\Lucky_star_Casino\docs\report\assets\簡報產生器\icons\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49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21124" y="18288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── JWT 驗證・限流・熔斷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94476" y="2560320"/>
            <a:ext cx="0" cy="292608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51076" y="2852928"/>
            <a:ext cx="8686800" cy="0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5107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469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54990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434" y="3336646"/>
            <a:ext cx="221285" cy="22128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469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會員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8843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0205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8726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794" y="3336646"/>
            <a:ext cx="221285" cy="22128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70205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錢包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22579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43941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462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3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154" y="3336646"/>
            <a:ext cx="221285" cy="22128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43941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96315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7677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76198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9" name="Image 4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514" y="3336646"/>
            <a:ext cx="221285" cy="22128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17677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排行榜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70051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91413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49934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5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874" y="3336646"/>
            <a:ext cx="221285" cy="22128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91413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1043787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965149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1023670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9" name="Image 6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7234" y="3336646"/>
            <a:ext cx="221285" cy="22128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65149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後台管理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548640" y="44805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42" name="Shape 33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3" name="Image 7" descr="C:\Users\User\Documents\Lucky_star_Casino\docs\report\assets\簡報產生器\icons\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4793742"/>
            <a:ext cx="251460" cy="25146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371600" y="4617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雙資料庫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777240" y="5257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帳務寫入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CQRS 讀庫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160520" y="44805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47" name="Shape 37"/>
          <p:cNvSpPr/>
          <p:nvPr/>
        </p:nvSpPr>
        <p:spPr>
          <a:xfrm>
            <a:off x="438912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8" name="Image 8" descr="C:\Users\User\Documents\Lucky_star_Casino\docs\report\assets\簡報產生器\icons\exch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1990" y="4793742"/>
            <a:ext cx="251460" cy="25146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4983480" y="4617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事件驅動</a:t>
            </a:r>
            <a:endParaRPr lang="en-US" sz="1350" dirty="0"/>
          </a:p>
        </p:txBody>
      </p:sp>
      <p:sp>
        <p:nvSpPr>
          <p:cNvPr id="50" name="Text 39"/>
          <p:cNvSpPr/>
          <p:nvPr/>
        </p:nvSpPr>
        <p:spPr>
          <a:xfrm>
            <a:off x="4389120" y="5257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Command／Event 分離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避免服務間循環依賴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7772400" y="4480560"/>
            <a:ext cx="3867912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52" name="Shape 41"/>
          <p:cNvSpPr/>
          <p:nvPr/>
        </p:nvSpPr>
        <p:spPr>
          <a:xfrm>
            <a:off x="800100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3" name="Image 9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3870" y="4793742"/>
            <a:ext cx="251460" cy="25146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8595360" y="4617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快取層</a:t>
            </a:r>
            <a:endParaRPr lang="en-US" sz="1350" dirty="0"/>
          </a:p>
        </p:txBody>
      </p:sp>
      <p:sp>
        <p:nvSpPr>
          <p:cNvPr id="55" name="Text 43"/>
          <p:cNvSpPr/>
          <p:nvPr/>
        </p:nvSpPr>
        <p:spPr>
          <a:xfrm>
            <a:off x="8001000" y="5257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Session、Token、排行榜快取</a:t>
            </a:r>
            <a:endParaRPr lang="en-US" sz="1100" dirty="0"/>
          </a:p>
        </p:txBody>
      </p:sp>
      <p:sp>
        <p:nvSpPr>
          <p:cNvPr id="56" name="Text 4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幸運星幣城｜系統架構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資料層設計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為什麼要兩個資料庫？寫的歸 Postgres，查的歸 MySQL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ADR-001：帳務寫入要 ACID，查詢流量不能拖垮下注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154680"/>
          </a:xfrm>
          <a:prstGeom prst="roundRect">
            <a:avLst>
              <a:gd name="adj" fmla="val 3478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Documents\Lucky_star_Casino\docs\report\assets\簡報產生器\icons\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1602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0391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─ 帳務寫庫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單一真相・交易一致性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679192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41832" y="2770632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41832" y="308152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player_id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PK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樂觀鎖：防超扣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3813048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941832" y="390448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wallet_transactions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41832" y="4215384"/>
            <a:ext cx="37856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／  player_id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PK / FK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　sub_type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idempotency_key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UNIQUE：防重複入帳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138928" y="2926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5230368" y="3447288"/>
            <a:ext cx="1609344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5230368" y="3538728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wallet.credit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wallet.debit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冪等寫入讀庫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49440" y="1874520"/>
            <a:ext cx="4690872" cy="3154680"/>
          </a:xfrm>
          <a:prstGeom prst="roundRect">
            <a:avLst>
              <a:gd name="adj" fmla="val 3478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178040" y="20574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1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910" y="2160270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754112" y="2039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─ 查詢讀庫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讀視圖・最終一致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178040" y="2679192"/>
            <a:ext cx="42336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7342632" y="277063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wallet_transaction_view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342632" y="3081528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PK（沿用寫庫 id，重放不重複）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player_id　amount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178040" y="3813048"/>
            <a:ext cx="42336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7342632" y="394106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這一側只被讀，不被寫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流水分頁、歷史查詢、後台報表全部打這裡。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就算查爆了，玩家照樣可以下注。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5230368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28" name="Shape 24"/>
          <p:cNvSpPr/>
          <p:nvPr/>
        </p:nvSpPr>
        <p:spPr>
          <a:xfrm>
            <a:off x="777240" y="543153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9" name="Image 2" descr="C:\Users\User\Documents\Lucky_star_Casino\docs\report\assets\簡報產生器\icons\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" y="5546750"/>
            <a:ext cx="281635" cy="28163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508760" y="5230368"/>
            <a:ext cx="10131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代價是「讀庫會晚幾百毫秒」——我們接受，因為查詢晚一點沒關係，帳算錯不行。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幸運星幣城｜雙資料庫</a:t>
            </a: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CQRS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資料層架構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雙資料庫架構圖：寫入走 PostgreSQL，查詢走 MySQL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 CQRS ─ 帳務寫入要 ACID，查詢流量打讀庫，兩庫之間以 Kafka 事件最終一致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30018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Documents\Lucky_star_Casino\docs\report\assets\簡報產生器\icons\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" y="2407158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2286000"/>
            <a:ext cx="156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wallet-service</a:t>
            </a:r>
            <a:endParaRPr lang="en-US" sz="12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唯一帳務寫入者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211912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・下注扣款・贏分派彩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・好友贈幣・商城兌換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・所有金流的單一守門人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42666" y="2990088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35858" y="2103120"/>
            <a:ext cx="2430018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7026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C:\Users\User\Documents\Lucky_star_Casino\docs\report\assets\簡報產生器\icons\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240715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85666" y="2286000"/>
            <a:ext cx="156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寫庫</a:t>
            </a:r>
            <a:endParaRPr lang="en-US" sz="12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ACID・單一真相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618738" y="3017520"/>
            <a:ext cx="211912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・wallets　version 樂觀鎖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・wallet_transactions　冪等鍵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・wallet_outbox　交易外寄箱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929884" y="2990088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323076" y="2103120"/>
            <a:ext cx="2430018" cy="2286000"/>
          </a:xfrm>
          <a:prstGeom prst="roundRect">
            <a:avLst>
              <a:gd name="adj" fmla="val 4800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24244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C:\Users\User\Documents\Lucky_star_Casino\docs\report\assets\簡報產生器\icons\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114" y="2407158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72884" y="2286000"/>
            <a:ext cx="156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事件管道</a:t>
            </a:r>
            <a:endParaRPr lang="en-US" sz="12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505956" y="3017520"/>
            <a:ext cx="211912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・OutboxPoller 撈 PENDING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・wallet.credit / wallet.debit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・送達確認才標 SENT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817102" y="2990088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210294" y="2103120"/>
            <a:ext cx="2430018" cy="2286000"/>
          </a:xfrm>
          <a:prstGeom prst="roundRect">
            <a:avLst>
              <a:gd name="adj" fmla="val 4800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411462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5" name="Image 3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4332" y="2407158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960102" y="2286000"/>
            <a:ext cx="156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讀庫</a:t>
            </a:r>
            <a:endParaRPr lang="en-US" sz="12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最終一致・只讀不寫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393174" y="3017520"/>
            <a:ext cx="211912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・wallet_transaction_view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・ReadSyncListener 消費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・existsById 冪等、可重放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461772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4F5F9"/>
          </a:solidFill>
          <a:ln/>
        </p:spPr>
      </p:sp>
      <p:sp>
        <p:nvSpPr>
          <p:cNvPr id="29" name="Shape 23"/>
          <p:cNvSpPr/>
          <p:nvPr/>
        </p:nvSpPr>
        <p:spPr>
          <a:xfrm>
            <a:off x="749808" y="4745736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4" descr="C:\Users\User\Documents\Lucky_star_Casino\docs\report\assets\簡報產生器\icons\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4" y="4836262"/>
            <a:ext cx="221285" cy="22128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98448" y="4617720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讀端只被查詢、不參與下注熱路徑：</a:t>
            </a: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玩家交易分頁　・　後台流通量／RTP 報表　・　排行榜與對帳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548640" y="5440680"/>
            <a:ext cx="11091672" cy="804672"/>
          </a:xfrm>
          <a:prstGeom prst="roundRect">
            <a:avLst>
              <a:gd name="adj" fmla="val 11364"/>
            </a:avLst>
          </a:prstGeom>
          <a:solidFill>
            <a:srgbClr val="1B1F3B"/>
          </a:solidFill>
          <a:ln/>
        </p:spPr>
      </p:sp>
      <p:sp>
        <p:nvSpPr>
          <p:cNvPr id="33" name="Shape 26"/>
          <p:cNvSpPr/>
          <p:nvPr/>
        </p:nvSpPr>
        <p:spPr>
          <a:xfrm>
            <a:off x="777240" y="563270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5" descr="C:\Users\User\Documents\Lucky_star_Casino\docs\report\assets\簡報產生器\icons\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" y="5735574"/>
            <a:ext cx="251460" cy="2514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481328" y="5440680"/>
            <a:ext cx="10131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就算查詢把讀庫打爆，玩家照樣能下注 —— 交易紀錄晚幾百毫秒沒關係，帳算錯不行。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幸運星幣城｜雙資料庫架構圖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一筆下注，系統裡發生了什麼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同步鏈路只做「必須即時正確」的事，其餘全部交給 Kafka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送出下注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96312" y="2221992"/>
            <a:ext cx="310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834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C9A227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34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驗證・限流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2312" y="2221992"/>
            <a:ext cx="310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120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game-service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20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算出這局結果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68312" y="2221992"/>
            <a:ext cx="310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06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wallet-service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6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扣款 → 派彩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54312" y="2221992"/>
            <a:ext cx="310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692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84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92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落帳（ACID）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56616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3A4076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381304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0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3928262"/>
            <a:ext cx="281635" cy="281635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3639312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　同步支線　</a:t>
            </a:r>
            <a:r>
              <a:rPr lang="en-US" sz="105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擋在關鍵路徑上，錯了就要當場拒絕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token 撤銷檢查（步驟 2，fail-closed）　② 風控併發閘（步驟 3）　③ 遊戲 session，TTL 30 分（步驟 3）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548640" y="470916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3A4076"/>
          </a:solidFill>
          <a:ln/>
        </p:spPr>
      </p:sp>
      <p:sp>
        <p:nvSpPr>
          <p:cNvPr id="34" name="Shape 31"/>
          <p:cNvSpPr/>
          <p:nvPr/>
        </p:nvSpPr>
        <p:spPr>
          <a:xfrm>
            <a:off x="777240" y="50292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5" name="Image 1" descr="C:\Users\User\Documents\Lucky_star_Casino\docs\report\assets\簡報產生器\icons\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5144414"/>
            <a:ext cx="281635" cy="281635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481328" y="4782312"/>
            <a:ext cx="10085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　非同步支線　</a:t>
            </a:r>
            <a:r>
              <a:rPr lang="en-US" sz="105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玩家不必等它跑完，慢了也不影響下注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wallet.debit / wallet.credit　→　排行榜計分・MySQL 讀庫同步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game.result　→　通知服務 WebSocket 推播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548640" y="598932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這條線的取捨：錢一定要同步算完才回應玩家；排行榜和通知晚個幾秒沒人在意，所以拆出去，讓下注這條路徑越短越好。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幸運星幣城｜請求流程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工程深潛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兩台裝置同時下注，錢會不會算錯？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錢包服務的帳務一致性設計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44824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37588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Documents\Lucky_star_Casino\docs\report\assets\簡報產生器\icons\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312" y="2337572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樂觀鎖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資料庫交易 + 版本號控制，偵測到併發衝突就重試，避免超扣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1752" y="28346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22064" y="1920240"/>
            <a:ext cx="3544824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C:\Users\User\Documents\Lucky_star_Casino\docs\report\assets\簡報產生器\icons\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736" y="2337572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22064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冪等鍵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96384" y="338328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每筆下注／派彩帶唯一鍵，網路重送或使用者重複點擊也不會重複入帳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85176" y="28346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8095488" y="1920240"/>
            <a:ext cx="3544824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584436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C:\Users\User\Documents\Lucky_star_Casino\docs\report\assets\簡報產生器\icons\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160" y="2337572"/>
            <a:ext cx="317480" cy="317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95488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補償機制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69808" y="338328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派彩失敗不放棄，每 30 秒以相同冪等鍵自動重試，直到成功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3" descr="C:\Users\User\Documents\Lucky_star_Casino\docs\report\assets\簡報產生器\icons\wal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397" y="5188077"/>
            <a:ext cx="276606" cy="2766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709160"/>
            <a:ext cx="10131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固定流程：先查冪等鍵 → 餘額守衛 → 樂觀鎖存檔 → 唯一約束兜底 —— 帳務不變量全程 0 違規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幸運星幣城｜帳務一致性設計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01／03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併發壓測，我們親眼看到系統崩潰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4663440" cy="3657600"/>
          </a:xfrm>
          <a:prstGeom prst="roundRect">
            <a:avLst>
              <a:gd name="adj" fmla="val 3500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640080" cy="640080"/>
          </a:xfrm>
          <a:prstGeom prst="ellipse">
            <a:avLst/>
          </a:prstGeom>
          <a:solidFill>
            <a:srgbClr val="B23A3A"/>
          </a:solidFill>
          <a:ln/>
        </p:spPr>
      </p:sp>
      <p:pic>
        <p:nvPicPr>
          <p:cNvPr id="6" name="Image 0" descr="C:\Users\User\Documents\Lucky_star_Casino\docs\report\assets\簡報產生器\icons\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98" y="24268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請求失敗率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併發實測下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28600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這不是模擬，是真的量出來的數字。</a:t>
            </a:r>
            <a:endParaRPr lang="en-US" sz="1600" dirty="0"/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流量一大，系統就開始大量拒絕請求——這正是上線後最怕遇到的場景。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我們沒有回避這個結果，而是把它當成排查的起點。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02／03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逐層排查，把瓶頸一個個揪出來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40764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0" descr="C:\Users\User\Documents\Lucky_star_Casino\docs\report\assets\簡報產生器\icons\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465" y="25895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發現問題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併發下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大量請求失敗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04388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01568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01568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93692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C:\Users\User\Documents\Lucky_star_Casino\docs\report\assets\簡報產生器\icons\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393" y="25895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01568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逐層分析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38728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Gateway 到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資料庫逐層排查瓶頸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957316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54496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254496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246620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2" descr="C:\Users\User\Documents\Lucky_star_Casino\docs\report\assets\簡報產生器\icons\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7321" y="258958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54496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導入防護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91656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流量保護機制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加上分層防禦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810244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107424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C9A227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107424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0099548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8" name="Image 3" descr="C:\Users\User\Documents\Lucky_star_Casino\docs\report\assets\簡報產生器\icons\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0249" y="2589581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07424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驗證成果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244584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重新壓測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確認失敗率下降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03／03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修正後：150 併發全綠，1,000 併發持續收斂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11091672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1B1F3B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5312664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Documents\Lucky_star_Casino\docs\report\assets\簡報產生器\icons\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5427878"/>
            <a:ext cx="281635" cy="281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5102352"/>
            <a:ext cx="10085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併發尚未全解，但方向明確：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再導入自適應併發限流後，被接受請求的成功率 23.9% → 78.4%、總失敗數再降 54%；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而帳務完整性 gate 全程 PASS —— 每一輪壓測都是超扣 0 筆、重複扣款 0 筆。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工程品質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讓品質不靠自覺，靠制度守住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Documents\Lucky_star_Casino\docs\report\assets\簡報產生器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3637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93976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單元測試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51460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核心邏輯自動化驗證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2064" y="1783080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41520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Documents\Lucky_star_Casino\docs\report\assets\簡報產生器\icons\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964" y="23637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6464" y="2093976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冒煙測試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36464" y="251460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每次部署前快速驗證關鍵路徑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95488" y="1783080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314944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388" y="23637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9888" y="2093976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容器化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009888" y="251460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環境一致，部署可重現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502152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768096" y="395935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C:\Users\User\Documents\Lucky_star_Casino\docs\report\assets\簡報產生器\icons\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408279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813048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自動化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63040" y="4233672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提交即測試，問題提早攔截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2064" y="3502152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1520" y="395935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C:\Users\User\Documents\Lucky_star_Casino\docs\report\assets\簡報產生器\icons\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4964" y="408279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6464" y="3813048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決策紀錄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236464" y="4233672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重大取捨留下可追溯依據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95488" y="3502152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314944" y="395935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5" descr="C:\Users\User\Documents\Lucky_star_Casino\docs\report\assets\簡報產生器\icons\id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8388" y="4082796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9888" y="3813048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Parity Test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9009888" y="4233672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前後端玩法數值強制一致，漂移即紅燈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48640" y="5230368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35" name="Shape 27"/>
          <p:cNvSpPr/>
          <p:nvPr/>
        </p:nvSpPr>
        <p:spPr>
          <a:xfrm>
            <a:off x="777240" y="543153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6" name="Image 6" descr="C:\Users\User\Documents\Lucky_star_Casino\docs\report\assets\簡報產生器\icons\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454" y="5546750"/>
            <a:ext cx="281635" cy="28163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08760" y="5230368"/>
            <a:ext cx="10131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這套制度守住的底線：壓測全程「帳務完整性 gate」PASS —— 超扣 0 筆、冪等失敗 0 筆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幸運星幣城｜工程品質保障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011680"/>
            <a:ext cx="5943600" cy="5943600"/>
          </a:xfrm>
          <a:prstGeom prst="ellipse">
            <a:avLst/>
          </a:prstGeom>
          <a:solidFill>
            <a:srgbClr val="3A4076">
              <a:alpha val="4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這個專題，證明了什麼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回到最初那句話：玩家最怕作弊、營運最怕流量一大就垮——兩個都做了完整驗證。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5786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C:\Users\User\Documents\Lucky_star_Casino\docs\report\assets\簡報產生器\icons\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2695285"/>
            <a:ext cx="296997" cy="296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4871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高併發調校能力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08760" y="29718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併發失敗率 78% → 0.05%，過程可覆盤重現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31636" y="22860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12" name="Shape 9"/>
          <p:cNvSpPr/>
          <p:nvPr/>
        </p:nvSpPr>
        <p:spPr>
          <a:xfrm>
            <a:off x="6487668" y="25786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345" y="2695285"/>
            <a:ext cx="296997" cy="29699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1756" y="24871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微服務與事件驅動架構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191756" y="29718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大服務、CQRS 雙庫、Kafka 指令/事件分離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1148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17" name="Shape 13"/>
          <p:cNvSpPr/>
          <p:nvPr/>
        </p:nvSpPr>
        <p:spPr>
          <a:xfrm>
            <a:off x="804672" y="44074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2" descr="C:\Users\User\Documents\Lucky_star_Casino\docs\report\assets\簡報產生器\icons\wal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49" y="4524085"/>
            <a:ext cx="296997" cy="29699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3159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帳務一致性設計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508760" y="48006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樂觀鎖、冪等鍵、自動補償機制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31636" y="41148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22" name="Shape 17"/>
          <p:cNvSpPr/>
          <p:nvPr/>
        </p:nvSpPr>
        <p:spPr>
          <a:xfrm>
            <a:off x="6487668" y="44074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3" descr="C:\Users\User\Documents\Lucky_star_Casino\docs\report\assets\簡報產生器\icons\gea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345" y="4524085"/>
            <a:ext cx="296997" cy="29699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91756" y="43159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完整工程紀律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191756" y="48006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CI/CD、ADR、Contract Parity Test 全流程把關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840480"/>
            <a:ext cx="5029200" cy="5029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05856" y="196596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C:\Users\User\Documents\Lucky_star_Casino\docs\report\assets\簡報產生器\icons\diam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849" y="2136953"/>
            <a:ext cx="435254" cy="4352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" y="2971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謝謝聆聽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08076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4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8076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STAR CASINO ｜ 幸運星幣城專題報告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3877</Words>
  <Application>Microsoft Office PowerPoint</Application>
  <PresentationFormat>寬螢幕</PresentationFormat>
  <Paragraphs>352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新細明體</vt:lpstr>
      <vt:lpstr>Arial</vt:lpstr>
      <vt:lpstr>Calibri</vt:lpstr>
      <vt:lpstr>Cambria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7</cp:revision>
  <dcterms:created xsi:type="dcterms:W3CDTF">2026-07-23T06:58:15Z</dcterms:created>
  <dcterms:modified xsi:type="dcterms:W3CDTF">2026-07-24T03:09:34Z</dcterms:modified>
</cp:coreProperties>
</file>