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Cambria"/>
              </a:rPr>
              <a:t>HTTP 失敗樣本比率（%）── 同一套 JMeter 腳本，修正前後對照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修正前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0.##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150 併發</c:v>
                  </c:pt>
                  <c:pt idx="1">
                    <c:v>1,000 併發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89.3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修正後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##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150 併發</c:v>
                  </c:pt>
                  <c:pt idx="1">
                    <c:v>1,000 併發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</c:v>
                </c:pt>
                <c:pt idx="1">
                  <c:v>68.5</c:v>
                </c:pt>
              </c:numCache>
            </c:numRef>
          </c:val>
        </c:ser>
        <c:dLbls>
          <c:numFmt formatCode="0.##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5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E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開場前確認投影機/demo 環境已就緒。A 負責前 12 分鐘（產品、demo、團隊），B 負責後 15 分鐘（架構、帳務、壓測、品質），最後共同收尾。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用這頁快速交代整場節奏與兩人分工，讓台下知道待會技術段落大概何時開始，心裡有底。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開場：先講這句定位，再補一句「不涉真金流、重點是把高併發遊戲平台的完整流程與架構做出來」，2 分鐘內結束，馬上接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三款遊戲各花約 1 分鐘現場展示畫面，輔助機制一句話帶過即可，不用逐一展開講邏輯，把時間留給下一頁的公平性驗證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這是全場最有戲劇性的段落：實際打開畫面，下注前先給 hash 承諾，開獎後揭露 serverSeed，再打 /verify 端點當場重算給台下看。三種角色都看得懂「這是真的、沒有作弊」。若後端起不來，切換前端 mock 模式備援，事先讓 B 知道由誰負責切換。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這段是唯一針對人資的鉤子：不要條列術語，講一次「我們怎麼吵出一個決策」的具體故事（例如樂觀鎖 vs 悲觀鎖怎麼選），展現協作與執行力。講完準備交棒給 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A→B 交棒：「架構跟數據的部分交給 B 來講」。B 上台前確認電腦操作權/遙控器已交接。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白板/投影片畫一次請求流即可，不用逐項唸術語：前端→Gateway(JWT+限流熔斷)→對應服務→資料層/Kafka。架構細節留在投影片上給技術主管自己看。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用情境開場："如果玩家在兩台裝置同時下注會發生什麼？" 再逐一講三個機制怎麼防止超扣/重複入帳/派彩失敗。這段是技術主管最想聽的工程判斷力證明。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這頁刻意用大數字製造衝擊感——先誠實講「我們真的遇到 89% 失敗率」，不要急著護航，讓台下感受到問題的真實性，下一頁再講怎麼解決。這段對董事長最有說服力：敢講問題比只講成果更可信。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這段用敘事節奏講，不要只丟結論：先講怎麼發現問題、假設哪裡是瓶頸、驗證假設、修正、再驗證。時間許可可以點名一兩個具體排查步驟（例如從 Gateway 限流層開始查起）。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這是對董事長最有說服力的一頁：同一測試條件下的前後對比。收尾一句話強調「可覆盤、可重現」，代表這是工程能力而不是運氣。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這段一句話帶過即可，不用每項展開——重點是傳達「品質是靠流程守住的，不是靠人記得」，技術主管和董事長都會在意這代表的風險管控成熟度。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A+B 共同收尾，呼應開場那句定位。強調「以 Java 微服務為核心的全端與分散式系統開發能力」。準備轉 Q&amp;A，深問留到會後單獨聊。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分流原則：先回一句所有人都懂的結論，若對方追問技術細節，回應「細節我們可以會後單獨聊」，避免深挖把其他角色晾在旁邊。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C:\Users\User\AppData\Local\Temp\claude\C--Users-User-Documents-Lucky-star-Casino\33c5692e-e16c-4205-84bf-5286946c81f3\scratchpad\pptx\icons\diam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9637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 STAR CASINO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32461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高併發線上遊戲平台．微服務架構專題報告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1248" y="407822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1133856" y="3977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產品定位・現場展示・團隊協作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0" y="407822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5779008" y="3977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系統架構・帳務設計・壓測數據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1248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簡報時長約 30 分鐘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議程總覽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30 分鐘，我們想帶各位看什麼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73327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AppData\Local\Temp\claude\C--Users-User-Documents-Lucky-star-Casino\33c5692e-e16c-4205-84bf-5286946c81f3\scratchpad\pptx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261" y="2602382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產品與現場展示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4944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三款遊戲、公平性驗證 Demo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A ・ 0–9 分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5566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5566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10253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AppData\Local\Temp\claude\C--Users-User-Documents-Lucky-star-Casino\33c5692e-e16c-4205-84bf-5286946c81f3\scratchpad\pptx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187" y="2602382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1870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團隊協作與紀律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31870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規範、決策紀錄、分工方式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7006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A ・ 9–12 分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22492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22492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147179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2" descr="C:\Users\User\AppData\Local\Temp\claude\C--Users-User-Documents-Lucky-star-Casino\33c5692e-e16c-4205-84bf-5286946c81f3\scratchpad\pptx\icons\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113" y="2602382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8796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系統架構與帳務設計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368796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大微服務、事件驅動、一致性保證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13932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 ・ 12–21 分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59418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059418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984105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8" name="Image 3" descr="C:\Users\User\AppData\Local\Temp\claude\C--Users-User-Documents-Lucky-star-Casino\33c5692e-e16c-4205-84bf-5286946c81f3\scratchpad\pptx\icons\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039" y="2602382"/>
            <a:ext cx="409651" cy="40965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5722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壓測戰役與工程品質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205722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失敗率到個位數的排查故事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150858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 ・ 21–29.5 分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幸運星幣城｜專題報告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486400" cy="5486400"/>
          </a:xfrm>
          <a:prstGeom prst="ellipse">
            <a:avLst/>
          </a:prstGeom>
          <a:solidFill>
            <a:srgbClr val="3A407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玩家最怕遊戲作弊，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營運最怕流量一大就垮。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幸運星幣城把這兩件事，做成了可以被驗證的工程成果。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426110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60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以模擬幣運作的線上娛樂遊戲平台，不涉及真實金流與賭博機制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482803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7274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重點在完整實作高併發線上遊戲平台的核心流程與微服務架構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539496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29437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玩家可遊玩老虎機、百家樂、捕魚機，系統即時派彩、更新錢包與排行榜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幸運星幣城｜專案定位（簡報人 A）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三款核心遊戲，加上完整的黏著機制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33c5692e-e16c-4205-84bf-5286946c81f3\scratchpad\pptx\icons\s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2121042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老虎機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逐格加權判定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兩階賠付結構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1624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33c5692e-e16c-4205-84bf-5286946c81f3\scratchpad\pptx\icons\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18" y="2121042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8864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百家樂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1624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規則牌桌邏輯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補牌表、5% 傭金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0288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33c5692e-e16c-4205-84bf-5286946c81f3\scratchpad\pptx\icons\fis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082" y="2121042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7528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捕魚機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00288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高頻互動玩法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與批次結算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三款遊戲之外：完整的玩家黏著機制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AppData\Local\Temp\claude\C--Users-User-Documents-Lucky-star-Casino\33c5692e-e16c-4205-84bf-5286946c81f3\scratchpad\pptx\icons\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5186934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385566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3586734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AppData\Local\Temp\claude\C--Users-User-Documents-Lucky-star-Casino\33c5692e-e16c-4205-84bf-5286946c81f3\scratchpad\pptx\icons\g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518693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2806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好友贈幣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22492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9" name="Shape 22"/>
          <p:cNvSpPr/>
          <p:nvPr/>
        </p:nvSpPr>
        <p:spPr>
          <a:xfrm>
            <a:off x="6423660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5" descr="C:\Users\User\AppData\Local\Temp\claude\C--Users-User-Documents-Lucky-star-Casino\33c5692e-e16c-4205-84bf-5286946c81f3\scratchpad\pptx\icons\diamo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530" y="5186934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9732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鑽石點數卡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9059418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33" name="Shape 25"/>
          <p:cNvSpPr/>
          <p:nvPr/>
        </p:nvSpPr>
        <p:spPr>
          <a:xfrm>
            <a:off x="9260586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6" descr="C:\Users\User\AppData\Local\Temp\claude\C--Users-User-Documents-Lucky-star-Casino\33c5692e-e16c-4205-84bf-5286946c81f3\scratchpad\pptx\icons\troph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456" y="5186934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36658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全服／好友排行榜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幸運星幣城｜產品與現場展示（簡報人 A）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DEMO・全場焦點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公平性怎麼證明？現場重算給大家看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Provably Fair：先承諾、後揭露，任何人都能事後驗證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5938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8" name="Image 0" descr="C:\Users\User\AppData\Local\Temp\claude\C--Users-User-Documents-Lucky-star-Casino\33c5692e-e16c-4205-84bf-5286946c81f3\scratchpad\pptx\icons\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954" y="282549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承諾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開局前公布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 的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值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80437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99893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99893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87191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15" name="Image 1" descr="C:\Users\User\AppData\Local\Temp\claude\C--Users-User-Documents-Lucky-star-Casino\33c5692e-e16c-4205-84bf-5286946c81f3\scratchpad\pptx\icons\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07" y="282549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99893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下注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909621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玩家提供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clientSeed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加入運算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31690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51146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051146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838444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2" name="Image 2" descr="C:\Users\User\AppData\Local\Temp\claude\C--Users-User-Documents-Lucky-star-Casino\33c5692e-e16c-4205-84bf-5286946c81f3\scratchpad\pptx\icons\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282549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51146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開獎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160874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SHA-256(server+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client+nonce)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決定結果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082942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02398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02398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089697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9" name="Image 3" descr="C:\Users\User\AppData\Local\Temp\claude\C--Users-User-Documents-Lucky-star-Casino\33c5692e-e16c-4205-84bf-5286946c81f3\scratchpad\pptx\icons\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713" y="282549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02398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揭露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412126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公布原始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供比對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334195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53651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553651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0340950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36" name="Image 4" descr="C:\Users\User\AppData\Local\Temp\claude\C--Users-User-Documents-Lucky-star-Casino\33c5692e-e16c-4205-84bf-5286946c81f3\scratchpad\pptx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8966" y="282549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53651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663379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 端點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現場重算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結果一致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幸運星幣城｜公平性驗證 Demo（簡報人 A）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團隊協作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四人分工，靠紀律而不是靠運氣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33c5692e-e16c-4205-84bf-5286946c81f3\scratchpad\pptx\icons\g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規範化 Git 協作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分支策略與提交規範，四人平行開發不互相打架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33c5692e-e16c-4205-84bf-5286946c81f3\scratchpad\pptx\icons\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046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63640" y="2743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每個重大取捨都留下「為什麼選這個、放棄了什麼」的紀錄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33c5692e-e16c-4205-84bf-5286946c81f3\scratchpad\pptx\icons\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七天衝刺、按優先級推進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3840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架構分析發現落後進度時，團隊重新排序、逐項補齊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B1F3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AppData\Local\Temp\claude\C--Users-User-Documents-Lucky-star-Casino\33c5692e-e16c-4205-84bf-5286946c81f3\scratchpad\pptx\icons\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3510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74920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決策不是拍板，是吵出來的——一個實例：樂觀鎖 vs 悲觀鎖的取捨，寫進 ADR 供後人查證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幸運星幣城｜團隊協作（簡報人 A）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AppData\Local\Temp\claude\C--Users-User-Documents-Lucky-star-Casino\33c5692e-e16c-4205-84bf-5286946c81f3\scratchpad\pptx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48259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架構、帳務設計與壓測數據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41248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簡報人 B　接下來 15 分鐘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六大微服務，Gateway 統一入口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21・Spring Boot 3・Monorepo 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79876" y="182880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7620" y="1965960"/>
            <a:ext cx="457200" cy="457200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7" name="Image 0" descr="C:\Users\User\AppData\Local\Temp\claude\C--Users-User-Documents-Lucky-star-Casino\33c5692e-e16c-4205-84bf-5286946c81f3\scratchpad\pptx\icons\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049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21124" y="18288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── JWT 驗證・限流・熔斷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94476" y="2560320"/>
            <a:ext cx="0" cy="292608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51076" y="2852928"/>
            <a:ext cx="8686800" cy="0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510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46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499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AppData\Local\Temp\claude\C--Users-User-Documents-Lucky-star-Casino\33c5692e-e16c-4205-84bf-5286946c81f3\scratchpad\pptx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34" y="3336646"/>
            <a:ext cx="221285" cy="2212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46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8843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0205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8726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AppData\Local\Temp\claude\C--Users-User-Documents-Lucky-star-Casino\33c5692e-e16c-4205-84bf-5286946c81f3\scratchpad\pptx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794" y="3336646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0205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22579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43941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462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AppData\Local\Temp\claude\C--Users-User-Documents-Lucky-star-Casino\33c5692e-e16c-4205-84bf-5286946c81f3\scratchpad\pptx\icons\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154" y="3336646"/>
            <a:ext cx="221285" cy="22128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3941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96315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7677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76198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4" descr="C:\Users\User\AppData\Local\Temp\claude\C--Users-User-Documents-Lucky-star-Casino\33c5692e-e16c-4205-84bf-5286946c81f3\scratchpad\pptx\icons\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514" y="3336646"/>
            <a:ext cx="221285" cy="22128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7677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70051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91413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9934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5" descr="C:\Users\User\AppData\Local\Temp\claude\C--Users-User-Documents-Lucky-star-Casino\33c5692e-e16c-4205-84bf-5286946c81f3\scratchpad\pptx\icons\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74" y="3336646"/>
            <a:ext cx="221285" cy="2212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1413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104378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6514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2367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9" name="Image 6" descr="C:\Users\User\AppData\Local\Temp\claude\C--Users-User-Documents-Lucky-star-Casino\33c5692e-e16c-4205-84bf-5286946c81f3\scratchpad\pptx\icons\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234" y="3336646"/>
            <a:ext cx="221285" cy="22128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6514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54864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2" name="Shape 33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3" name="Image 7" descr="C:\Users\User\AppData\Local\Temp\claude\C--Users-User-Documents-Lucky-star-Casino\33c5692e-e16c-4205-84bf-5286946c81f3\scratchpad\pptx\icons\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" y="4793742"/>
            <a:ext cx="251460" cy="2514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371600" y="4617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雙資料庫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777240" y="5257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帳務寫入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CQRS 讀庫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16052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7" name="Shape 37"/>
          <p:cNvSpPr/>
          <p:nvPr/>
        </p:nvSpPr>
        <p:spPr>
          <a:xfrm>
            <a:off x="438912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8" name="Image 8" descr="C:\Users\User\AppData\Local\Temp\claude\C--Users-User-Documents-Lucky-star-Casino\33c5692e-e16c-4205-84bf-5286946c81f3\scratchpad\pptx\icons\exch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1990" y="4793742"/>
            <a:ext cx="251460" cy="25146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98348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事件驅動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4389120" y="5257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Command／Event 分離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避免服務間循環依賴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7772400" y="448056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52" name="Shape 41"/>
          <p:cNvSpPr/>
          <p:nvPr/>
        </p:nvSpPr>
        <p:spPr>
          <a:xfrm>
            <a:off x="800100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3" name="Image 9" descr="C:\Users\User\AppData\Local\Temp\claude\C--Users-User-Documents-Lucky-star-Casino\33c5692e-e16c-4205-84bf-5286946c81f3\scratchpad\pptx\icons\layer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3870" y="4793742"/>
            <a:ext cx="251460" cy="25146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8595360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快取層</a:t>
            </a:r>
            <a:endParaRPr lang="en-US" sz="1350" dirty="0"/>
          </a:p>
        </p:txBody>
      </p:sp>
      <p:sp>
        <p:nvSpPr>
          <p:cNvPr id="55" name="Text 43"/>
          <p:cNvSpPr/>
          <p:nvPr/>
        </p:nvSpPr>
        <p:spPr>
          <a:xfrm>
            <a:off x="8001000" y="5257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Session、Token、排行榜快取</a:t>
            </a:r>
            <a:endParaRPr lang="en-US" sz="1100" dirty="0"/>
          </a:p>
        </p:txBody>
      </p:sp>
      <p:sp>
        <p:nvSpPr>
          <p:cNvPr id="5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幸運星幣城｜系統架構（簡報人 B）</a:t>
            </a:r>
            <a:endParaRPr lang="en-US" sz="1000" dirty="0"/>
          </a:p>
        </p:txBody>
      </p:sp>
      <p:sp>
        <p:nvSpPr>
          <p:cNvPr id="57" name="Text 4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工程深潛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兩台裝置同時下注，錢會不會算錯？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錢包服務的帳務一致性設計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7588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AppData\Local\Temp\claude\C--Users-User-Documents-Lucky-star-Casino\33c5692e-e16c-4205-84bf-5286946c81f3\scratchpad\pptx\icons\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312" y="233757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樂觀鎖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資料庫交易 + 版本號控制，偵測到併發衝突就重試，避免超扣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1752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22064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AppData\Local\Temp\claude\C--Users-User-Documents-Lucky-star-Casino\33c5692e-e16c-4205-84bf-5286946c81f3\scratchpad\pptx\icons\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36" y="233757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22064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冪等鍵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96384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每筆下注／派彩帶唯一鍵，網路重送或使用者重複點擊也不會重複入帳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85176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095488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584436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AppData\Local\Temp\claude\C--Users-User-Documents-Lucky-star-Casino\33c5692e-e16c-4205-84bf-5286946c81f3\scratchpad\pptx\icons\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160" y="2337572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5488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補償機制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9808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派彩失敗不放棄，每 30 秒以相同冪等鍵自動重試，直到成功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AppData\Local\Temp\claude\C--Users-User-Documents-Lucky-star-Casino\33c5692e-e16c-4205-84bf-5286946c81f3\scratchpad\pptx\icons\wa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5188077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709160"/>
            <a:ext cx="10131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固定流程：先查冪等鍵 → 餘額守衛 → 樂觀鎖存檔 → 唯一約束兜底 —— 帳務不變量全程 0 違規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幸運星幣城｜帳務一致性設計（簡報人 B）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01／03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併發壓測，我們親眼看到系統崩潰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663440" cy="3657600"/>
          </a:xfrm>
          <a:prstGeom prst="roundRect">
            <a:avLst>
              <a:gd name="adj" fmla="val 3500"/>
            </a:avLst>
          </a:prstGeom>
          <a:solidFill>
            <a:srgbClr val="3A4076"/>
          </a:solidFill>
          <a:ln/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6" name="Image 0" descr="C:\Users\User\AppData\Local\Temp\claude\C--Users-User-Documents-Lucky-star-Casino\33c5692e-e16c-4205-84bf-5286946c81f3\scratchpad\pptx\icons\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24268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請求失敗率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併發實測下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28600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這不是模擬，是真的量出來的數字。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流量一大，系統就開始大量拒絕請求——這正是上線後最怕遇到的場景。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我們沒有回避這個結果，而是把它當成排查的起點。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幸運星幣城｜壓測戰役（簡報人 B）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02／03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逐層排查，把瓶頸一個個揪出來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40764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C:\Users\User\AppData\Local\Temp\claude\C--Users-User-Documents-Lucky-star-Casino\33c5692e-e16c-4205-84bf-5286946c81f3\scratchpad\pptx\icons\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465" y="2589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發現問題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併發下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大量請求失敗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04388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01568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01568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93692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C:\Users\User\AppData\Local\Temp\claude\C--Users-User-Documents-Lucky-star-Casino\33c5692e-e16c-4205-84bf-5286946c81f3\scratchpad\pptx\icons\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93" y="25895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逐層分析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38728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Gateway 到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資料庫逐層排查瓶頸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57316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54496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54496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4662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2" descr="C:\Users\User\AppData\Local\Temp\claude\C--Users-User-Documents-Lucky-star-Casino\33c5692e-e16c-4205-84bf-5286946c81f3\scratchpad\pptx\icons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21" y="258958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導入防護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91656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流量保護機制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加上分層防禦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810244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107424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07424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099548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3" descr="C:\Users\User\AppData\Local\Temp\claude\C--Users-User-Documents-Lucky-star-Casino\33c5692e-e16c-4205-84bf-5286946c81f3\scratchpad\pptx\icons\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0249" y="258958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07424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驗證成果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44584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重新壓測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確認失敗率下降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幸運星幣城｜壓測戰役（簡報人 B）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03／03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修正後：失敗率降到個位數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91672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 1,000 併發壓力測試，同一套系統，靠工程排查把可用性做出來——這是可以覆盤、可以重現的結果，不是一次僥倖。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幸運星幣城｜壓測戰役（簡報人 B）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工程品質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讓品質不靠自覺，靠制度守住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33c5692e-e16c-4205-84bf-5286946c81f3\scratchpad\pptx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3637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單元測試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核心邏輯自動化驗證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2064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41520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33c5692e-e16c-4205-84bf-5286946c81f3\scratchpad\pptx\icons\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64" y="23637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6464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冒煙測試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36464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每次部署前快速驗證關鍵路徑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5488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14944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33c5692e-e16c-4205-84bf-5286946c81f3\scratchpad\pptx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388" y="23637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9888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容器化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009888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環境一致，部署可重現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096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AppData\Local\Temp\claude\C--Users-User-Documents-Lucky-star-Casino\33c5692e-e16c-4205-84bf-5286946c81f3\scratchpad\pptx\icons\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0827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自動化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提交即測試，問題提早攔截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2064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1520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AppData\Local\Temp\claude\C--Users-User-Documents-Lucky-star-Casino\33c5692e-e16c-4205-84bf-5286946c81f3\scratchpad\pptx\icons\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964" y="408279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6464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36464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重大取捨留下可追溯依據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95488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14944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C:\Users\User\AppData\Local\Temp\claude\C--Users-User-Documents-Lucky-star-Casino\33c5692e-e16c-4205-84bf-5286946c81f3\scratchpad\pptx\icons\id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388" y="408279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9888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Parity Test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009888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前後端玩法數值強制一致，漂移即紅燈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35" name="Shape 27"/>
          <p:cNvSpPr/>
          <p:nvPr/>
        </p:nvSpPr>
        <p:spPr>
          <a:xfrm>
            <a:off x="777240" y="54315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6" descr="C:\Users\User\AppData\Local\Temp\claude\C--Users-User-Documents-Lucky-star-Casino\33c5692e-e16c-4205-84bf-5286946c81f3\scratchpad\pptx\icons\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54" y="5546750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5230368"/>
            <a:ext cx="10131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這套制度守住的底線：壓測全程「帳務完整性 gate」PASS —— 超扣 0 筆、冪等失敗 0 筆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幸運星幣城｜工程品質保障（簡報人 B）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011680"/>
            <a:ext cx="5943600" cy="5943600"/>
          </a:xfrm>
          <a:prstGeom prst="ellipse">
            <a:avLst/>
          </a:prstGeom>
          <a:solidFill>
            <a:srgbClr val="3A4076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這個專題，證明了什麼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回到最初那句話：玩家最怕作弊、營運最怕流量一大就垮——兩個都做了完整驗證。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C:\Users\User\AppData\Local\Temp\claude\C--Users-User-Documents-Lucky-star-Casino\33c5692e-e16c-4205-84bf-5286946c81f3\scratchpad\pptx\icons\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2695285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高併發調校能力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08760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失敗率排查到個位數，且可覆盤重現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31636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2" name="Shape 9"/>
          <p:cNvSpPr/>
          <p:nvPr/>
        </p:nvSpPr>
        <p:spPr>
          <a:xfrm>
            <a:off x="6487668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AppData\Local\Temp\claude\C--Users-User-Documents-Lucky-star-Casino\33c5692e-e16c-4205-84bf-5286946c81f3\scratchpad\pptx\icons\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345" y="2695285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1756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微服務與事件驅動架構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191756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大服務、Kafka Command/Event 分離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C:\Users\User\AppData\Local\Temp\claude\C--Users-User-Documents-Lucky-star-Casino\33c5692e-e16c-4205-84bf-5286946c81f3\scratchpad\pptx\icons\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4524085"/>
            <a:ext cx="296997" cy="29699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帳務一致性設計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508760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樂觀鎖、冪等鍵、自動補償機制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1636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22" name="Shape 17"/>
          <p:cNvSpPr/>
          <p:nvPr/>
        </p:nvSpPr>
        <p:spPr>
          <a:xfrm>
            <a:off x="6487668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3" descr="C:\Users\User\AppData\Local\Temp\claude\C--Users-User-Documents-Lucky-star-Casino\33c5692e-e16c-4205-84bf-5286946c81f3\scratchpad\pptx\icons\gea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345" y="4524085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91756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完整工程紀律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91756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CI/CD、ADR、Contract Parity Test 全流程把關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029200" cy="5029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05856" y="1965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AppData\Local\Temp\claude\C--Users-User-Documents-Lucky-star-Casino\33c5692e-e16c-4205-84bf-5286946c81f3\scratchpad\pptx\icons\diam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849" y="213695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" y="2971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08076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8076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STAR CASINO ｜ 幸運星幣城專題報告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2026-07-20T06:59:45Z</dcterms:created>
  <dcterms:modified xsi:type="dcterms:W3CDTF">2026-07-20T06:59:45Z</dcterms:modified>
</cp:coreProperties>
</file>