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13"/>
    <p:sldId id="261" r:id="rId7"/>
    <p:sldId id="263" r:id="rId14"/>
    <p:sldId id="264" r:id="rId15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7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6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3A407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743200" cy="2743200"/>
          </a:xfrm>
          <a:prstGeom prst="ellipse">
            <a:avLst/>
          </a:prstGeom>
          <a:solidFill>
            <a:srgbClr val="C9A227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713232" cy="71323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81328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400" kern="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10607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盤點與分類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41248" y="3310128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後端 REST API 全面盤點・依存取層級／服務／業務功能三種切法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41248" y="4480560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427939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 Controller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407408" y="4480560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427939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 REST 端點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973568" y="4480560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0" y="427939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個微服務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41248" y="6172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資料來源：backend/*/controller 之 @RequestMapping 靜態盤點（2026-07-24）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OVERVIEW・一頁總覽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個 REST 端點，橫跨 7 個微服務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097280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幸運星幣城｜API 盤點與分類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4F5F9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965960"/>
            <a:ext cx="2606040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9456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548640" y="299008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端點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335584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級 @Mapping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56432" y="196596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4F5F9"/>
          </a:solidFill>
          <a:ln/>
        </p:spPr>
      </p:sp>
      <p:sp>
        <p:nvSpPr>
          <p:cNvPr id="13" name="Shape 11"/>
          <p:cNvSpPr/>
          <p:nvPr/>
        </p:nvSpPr>
        <p:spPr>
          <a:xfrm>
            <a:off x="3456432" y="1965960"/>
            <a:ext cx="2606040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3456432" y="219456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3456432" y="299008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56432" y="335584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分佈於 5 個服務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64224" y="196596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4F5F9"/>
          </a:solidFill>
          <a:ln/>
        </p:spPr>
      </p:sp>
      <p:sp>
        <p:nvSpPr>
          <p:cNvPr id="18" name="Shape 16"/>
          <p:cNvSpPr/>
          <p:nvPr/>
        </p:nvSpPr>
        <p:spPr>
          <a:xfrm>
            <a:off x="6364224" y="1965960"/>
            <a:ext cx="2606040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9" name="Text 17"/>
          <p:cNvSpPr/>
          <p:nvPr/>
        </p:nvSpPr>
        <p:spPr>
          <a:xfrm>
            <a:off x="6364224" y="219456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6364224" y="299008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微服務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64224" y="335584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為反向代理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272016" y="196596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4F5F9"/>
          </a:solidFill>
          <a:ln/>
        </p:spPr>
      </p:sp>
      <p:sp>
        <p:nvSpPr>
          <p:cNvPr id="23" name="Shape 21"/>
          <p:cNvSpPr/>
          <p:nvPr/>
        </p:nvSpPr>
        <p:spPr>
          <a:xfrm>
            <a:off x="9272016" y="1965960"/>
            <a:ext cx="2606040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4" name="Text 22"/>
          <p:cNvSpPr/>
          <p:nvPr/>
        </p:nvSpPr>
        <p:spPr>
          <a:xfrm>
            <a:off x="9272016" y="219456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600" dirty="0"/>
          </a:p>
        </p:txBody>
      </p:sp>
      <p:sp>
        <p:nvSpPr>
          <p:cNvPr id="25" name="Text 23"/>
          <p:cNvSpPr/>
          <p:nvPr/>
        </p:nvSpPr>
        <p:spPr>
          <a:xfrm>
            <a:off x="9272016" y="299008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分類切法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272016" y="335584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層級／服務／功能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4160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同一份端點，用三種視角盤點：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48640" y="4709160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9" name="Text 27"/>
          <p:cNvSpPr/>
          <p:nvPr/>
        </p:nvSpPr>
        <p:spPr>
          <a:xfrm>
            <a:off x="804672" y="46177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依存取層級
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誰能呼叫 → 玩家端 / 後台 / 內部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251960" y="4709160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1" name="Text 29"/>
          <p:cNvSpPr/>
          <p:nvPr/>
        </p:nvSpPr>
        <p:spPr>
          <a:xfrm>
            <a:off x="4507992" y="46177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依服務
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落在哪個微服務 → member / wallet / game …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955280" y="4709160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3" name="Text 31"/>
          <p:cNvSpPr/>
          <p:nvPr/>
        </p:nvSpPr>
        <p:spPr>
          <a:xfrm>
            <a:off x="8211312" y="46177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依業務功能
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解決什麼問題 → 帳務 / 遊戲 / 社交 …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切法一・依存取層級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誰能呼叫？三層權限、三套邊界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097280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幸運星幣城｜API 盤點與分類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F4F5F9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874520"/>
            <a:ext cx="3566160" cy="10058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167128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  </a:t>
            </a:r>
            <a:pPr indent="0" marL="0">
              <a:buNone/>
            </a:pPr>
            <a:r>
              <a:rPr lang="en-US" sz="1300" dirty="0">
                <a:solidFill>
                  <a:srgbClr val="4A4E68"/>
                </a:solidFill>
              </a:rPr>
              <a:t>個端點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822960" y="2926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玩家端 API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22960" y="3319272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D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/api/v1/**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3721608"/>
            <a:ext cx="3017520" cy="0"/>
          </a:xfrm>
          <a:prstGeom prst="line">
            <a:avLst/>
          </a:prstGeom>
          <a:noFill/>
          <a:ln w="12700">
            <a:solidFill>
              <a:srgbClr val="D8DB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813048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玩家 JWT 經 gateway；前端 frontend/ 使用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466344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涵蓋　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認證・錢包・遊戲・社交・排行・簽到・商城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407408" y="187452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F4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4407408" y="1874520"/>
            <a:ext cx="3566160" cy="10058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4681728" y="2167128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 </a:t>
            </a:r>
            <a:pPr indent="0" marL="0">
              <a:buNone/>
            </a:pPr>
            <a:r>
              <a:rPr lang="en-US" sz="1300" dirty="0">
                <a:solidFill>
                  <a:srgbClr val="4A4E68"/>
                </a:solidFill>
              </a:rPr>
              <a:t>個端點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4681728" y="2926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後台 API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4681728" y="3319272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D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/admin/**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81728" y="3721608"/>
            <a:ext cx="3017520" cy="0"/>
          </a:xfrm>
          <a:prstGeom prst="line">
            <a:avLst/>
          </a:prstGeom>
          <a:noFill/>
          <a:ln w="12700">
            <a:solidFill>
              <a:srgbClr val="D8DB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1728" y="3813048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獨立 ADMIN JWT；管理後台 frontend-admin/ 使用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81728" y="466344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涵蓋　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玩家管理・報表・告警・GM 發幣・目錄／發卡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266176" y="187452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F4F5F9"/>
          </a:solidFill>
          <a:ln/>
        </p:spPr>
      </p:sp>
      <p:sp>
        <p:nvSpPr>
          <p:cNvPr id="24" name="Shape 22"/>
          <p:cNvSpPr/>
          <p:nvPr/>
        </p:nvSpPr>
        <p:spPr>
          <a:xfrm>
            <a:off x="8266176" y="1874520"/>
            <a:ext cx="3566160" cy="10058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5" name="Text 23"/>
          <p:cNvSpPr/>
          <p:nvPr/>
        </p:nvSpPr>
        <p:spPr>
          <a:xfrm>
            <a:off x="8540496" y="2167128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 </a:t>
            </a:r>
            <a:pPr indent="0" marL="0">
              <a:buNone/>
            </a:pPr>
            <a:r>
              <a:rPr lang="en-US" sz="1300" dirty="0">
                <a:solidFill>
                  <a:srgbClr val="4A4E68"/>
                </a:solidFill>
              </a:rPr>
              <a:t>個端點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8540496" y="2926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內部 API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8540496" y="3319272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D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/internal/**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540496" y="3721608"/>
            <a:ext cx="3017520" cy="0"/>
          </a:xfrm>
          <a:prstGeom prst="line">
            <a:avLst/>
          </a:prstGeom>
          <a:noFill/>
          <a:ln w="12700">
            <a:solidFill>
              <a:srgbClr val="D8DB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40496" y="3813048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服務間呼叫，不對外；gateway 剝除後轉發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540496" y="466344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涵蓋　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member↔wallet 狀態同步・扣款入帳・死信重送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48640" y="605332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後台與玩家為兩套 JWT secret，gateway 只驗玩家 token → /admin/ 須列入白名單純轉發（雷區 21）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切法二・依服務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端點落在哪個微服務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097280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幸運星幣城｜API 盤點與分類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3840480"/>
                <a:gridCol w="40233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服務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端點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路徑前綴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主要職責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member-service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4E6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/api/v1/auth・player・friends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認證、個資、社群綁定、好友、簽到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wallet-service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4E6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/api/v1/wallet（含 diamond・shop・topup）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餘額、交易、贈禮、鑽石、商城、儲值、內部帳務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game-service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4E6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/api/v1/game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老虎機、百家樂、捕魚、公平性驗證、RTP、歷史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admin-service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4E6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/admin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後台登入、玩家管理、報表、告警、GM、目錄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rank-service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4E6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/api/v1/rank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全球排行、好友排行、每日贏分（皆為查詢）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58978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gateway-service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為反向代理／熔斷入口（另有 1 個 /fallback 內部端點），不計入 72；</a:t>
            </a:r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notification-service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走 WebSocket/STOMP（/ws），非 REST。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切法三・依業務功能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同一批端點，改用「解決什麼問題」歸類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097280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幸運星幣城｜API 盤點與分類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141833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4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185623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帳號與認證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371600" y="2258568"/>
            <a:ext cx="4389120" cy="128016"/>
          </a:xfrm>
          <a:prstGeom prst="roundRect">
            <a:avLst>
              <a:gd name="adj" fmla="val 50000"/>
            </a:avLst>
          </a:prstGeom>
          <a:solidFill>
            <a:srgbClr val="2C315A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2258568"/>
            <a:ext cx="4389120" cy="12801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24231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登入/註冊/JWT 刷新、個資、社群綁定、停權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06324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141833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063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4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71600" y="304495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錢包與金流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371600" y="3447288"/>
            <a:ext cx="4389120" cy="128016"/>
          </a:xfrm>
          <a:prstGeom prst="roundRect">
            <a:avLst>
              <a:gd name="adj" fmla="val 50000"/>
            </a:avLst>
          </a:prstGeom>
          <a:solidFill>
            <a:srgbClr val="2C315A"/>
          </a:solidFill>
          <a:ln/>
        </p:spPr>
      </p:sp>
      <p:sp>
        <p:nvSpPr>
          <p:cNvPr id="17" name="Shape 15"/>
          <p:cNvSpPr/>
          <p:nvPr/>
        </p:nvSpPr>
        <p:spPr>
          <a:xfrm>
            <a:off x="1371600" y="3447288"/>
            <a:ext cx="4389120" cy="12801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36118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餘額、交易、贈禮、儲值、內部扣款入帳、死信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25196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141833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251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4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371600" y="423367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鑽石與商城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371600" y="4636008"/>
            <a:ext cx="4389120" cy="128016"/>
          </a:xfrm>
          <a:prstGeom prst="roundRect">
            <a:avLst>
              <a:gd name="adj" fmla="val 50000"/>
            </a:avLst>
          </a:prstGeom>
          <a:solidFill>
            <a:srgbClr val="2C315A"/>
          </a:solidFill>
          <a:ln/>
        </p:spPr>
      </p:sp>
      <p:sp>
        <p:nvSpPr>
          <p:cNvPr id="23" name="Shape 21"/>
          <p:cNvSpPr/>
          <p:nvPr/>
        </p:nvSpPr>
        <p:spPr>
          <a:xfrm>
            <a:off x="1371600" y="4636008"/>
            <a:ext cx="4023360" cy="12801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24" name="Text 22"/>
          <p:cNvSpPr/>
          <p:nvPr/>
        </p:nvSpPr>
        <p:spPr>
          <a:xfrm>
            <a:off x="1371600" y="48006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鑽石兌換/換幣、商城目錄/兌換、後台發卡/上架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44068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141833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5440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4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371600" y="542239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遊戲玩法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371600" y="5824728"/>
            <a:ext cx="4389120" cy="128016"/>
          </a:xfrm>
          <a:prstGeom prst="roundRect">
            <a:avLst>
              <a:gd name="adj" fmla="val 50000"/>
            </a:avLst>
          </a:prstGeom>
          <a:solidFill>
            <a:srgbClr val="2C315A"/>
          </a:solidFill>
          <a:ln/>
        </p:spPr>
      </p:sp>
      <p:sp>
        <p:nvSpPr>
          <p:cNvPr id="29" name="Shape 27"/>
          <p:cNvSpPr/>
          <p:nvPr/>
        </p:nvSpPr>
        <p:spPr>
          <a:xfrm>
            <a:off x="1371600" y="5824728"/>
            <a:ext cx="4023360" cy="12801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30" name="Text 28"/>
          <p:cNvSpPr/>
          <p:nvPr/>
        </p:nvSpPr>
        <p:spPr>
          <a:xfrm>
            <a:off x="1371600" y="59893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老虎機、百家樂、捕魚（下注／開火／結算）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662940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141833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6629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4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371600" y="661111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社交好友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1371600" y="7013448"/>
            <a:ext cx="4389120" cy="128016"/>
          </a:xfrm>
          <a:prstGeom prst="roundRect">
            <a:avLst>
              <a:gd name="adj" fmla="val 50000"/>
            </a:avLst>
          </a:prstGeom>
          <a:solidFill>
            <a:srgbClr val="2C315A"/>
          </a:solidFill>
          <a:ln/>
        </p:spPr>
      </p:sp>
      <p:sp>
        <p:nvSpPr>
          <p:cNvPr id="35" name="Shape 33"/>
          <p:cNvSpPr/>
          <p:nvPr/>
        </p:nvSpPr>
        <p:spPr>
          <a:xfrm>
            <a:off x="1371600" y="7013448"/>
            <a:ext cx="2194560" cy="12801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36" name="Text 34"/>
          <p:cNvSpPr/>
          <p:nvPr/>
        </p:nvSpPr>
        <p:spPr>
          <a:xfrm>
            <a:off x="1371600" y="71780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好友邀請、接受/拒絕、清單、刪除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72200" y="187452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141833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7220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4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995160" y="185623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排行榜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995160" y="2258568"/>
            <a:ext cx="4389120" cy="128016"/>
          </a:xfrm>
          <a:prstGeom prst="roundRect">
            <a:avLst>
              <a:gd name="adj" fmla="val 50000"/>
            </a:avLst>
          </a:prstGeom>
          <a:solidFill>
            <a:srgbClr val="2C315A"/>
          </a:solidFill>
          <a:ln/>
        </p:spPr>
      </p:sp>
      <p:sp>
        <p:nvSpPr>
          <p:cNvPr id="41" name="Shape 39"/>
          <p:cNvSpPr/>
          <p:nvPr/>
        </p:nvSpPr>
        <p:spPr>
          <a:xfrm>
            <a:off x="6995160" y="2258568"/>
            <a:ext cx="2194560" cy="12801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42" name="Text 40"/>
          <p:cNvSpPr/>
          <p:nvPr/>
        </p:nvSpPr>
        <p:spPr>
          <a:xfrm>
            <a:off x="6995160" y="24231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全球／好友排行、每日贏分查詢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172200" y="306324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141833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72200" y="3063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4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6995160" y="304495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後台營運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6995160" y="3447288"/>
            <a:ext cx="4389120" cy="128016"/>
          </a:xfrm>
          <a:prstGeom prst="roundRect">
            <a:avLst>
              <a:gd name="adj" fmla="val 50000"/>
            </a:avLst>
          </a:prstGeom>
          <a:solidFill>
            <a:srgbClr val="2C315A"/>
          </a:solidFill>
          <a:ln/>
        </p:spPr>
      </p:sp>
      <p:sp>
        <p:nvSpPr>
          <p:cNvPr id="47" name="Shape 45"/>
          <p:cNvSpPr/>
          <p:nvPr/>
        </p:nvSpPr>
        <p:spPr>
          <a:xfrm>
            <a:off x="6995160" y="3447288"/>
            <a:ext cx="2926080" cy="12801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48" name="Text 46"/>
          <p:cNvSpPr/>
          <p:nvPr/>
        </p:nvSpPr>
        <p:spPr>
          <a:xfrm>
            <a:off x="6995160" y="36118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玩家管理、流通量/RTP 報表、異常告警、GM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172200" y="425196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141833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72200" y="4251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4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6995160" y="423367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每日簽到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6995160" y="4636008"/>
            <a:ext cx="4389120" cy="128016"/>
          </a:xfrm>
          <a:prstGeom prst="roundRect">
            <a:avLst>
              <a:gd name="adj" fmla="val 50000"/>
            </a:avLst>
          </a:prstGeom>
          <a:solidFill>
            <a:srgbClr val="2C315A"/>
          </a:solidFill>
          <a:ln/>
        </p:spPr>
      </p:sp>
      <p:sp>
        <p:nvSpPr>
          <p:cNvPr id="53" name="Shape 51"/>
          <p:cNvSpPr/>
          <p:nvPr/>
        </p:nvSpPr>
        <p:spPr>
          <a:xfrm>
            <a:off x="6995160" y="4636008"/>
            <a:ext cx="1097280" cy="12801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54" name="Text 52"/>
          <p:cNvSpPr/>
          <p:nvPr/>
        </p:nvSpPr>
        <p:spPr>
          <a:xfrm>
            <a:off x="6995160" y="48006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每日簽到、簽到狀態、月度獎勵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172200" y="544068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141833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72200" y="5440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4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57" name="Text 55"/>
          <p:cNvSpPr/>
          <p:nvPr/>
        </p:nvSpPr>
        <p:spPr>
          <a:xfrm>
            <a:off x="6995160" y="542239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遊戲公平性/統計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6995160" y="5824728"/>
            <a:ext cx="4389120" cy="128016"/>
          </a:xfrm>
          <a:prstGeom prst="roundRect">
            <a:avLst>
              <a:gd name="adj" fmla="val 50000"/>
            </a:avLst>
          </a:prstGeom>
          <a:solidFill>
            <a:srgbClr val="2C315A"/>
          </a:solidFill>
          <a:ln/>
        </p:spPr>
      </p:sp>
      <p:sp>
        <p:nvSpPr>
          <p:cNvPr id="59" name="Shape 57"/>
          <p:cNvSpPr/>
          <p:nvPr/>
        </p:nvSpPr>
        <p:spPr>
          <a:xfrm>
            <a:off x="6995160" y="5824728"/>
            <a:ext cx="1097280" cy="12801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60" name="Text 58"/>
          <p:cNvSpPr/>
          <p:nvPr/>
        </p:nvSpPr>
        <p:spPr>
          <a:xfrm>
            <a:off x="6995160" y="59893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Provably Fair 驗證、RTP、遊戲歷史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48640" y="614476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類合計 72，與依服務盤點一致（MECE，無重複計數）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延伸・依貢獻者盤點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誰負責哪些端點？四人分工全貌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097280" cy="4572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幸運星幣城｜API 盤點與分類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3840480"/>
                <a:gridCol w="40233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貢獻者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端點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佔比 / 主要服務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主要負責範圍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ALexChang1999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4E68"/>
                          </a:solidFill>
                          <a:latin typeface="Calibri" pitchFamily="34" charset="0"/>
                          <a:ea typeface="Consolas" pitchFamily="34" charset="-122"/>
                          <a:cs typeface="Consolas" pitchFamily="34" charset="-120"/>
                        </a:rPr>
                        <a:t>51%　admin・game・wallet・member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認證、老虎機/捕魚/RTP、後台報表/商城/GM、儲值/內部帳務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We1Yu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4E68"/>
                          </a:solidFill>
                          <a:latin typeface="Calibri" pitchFamily="34" charset="0"/>
                          <a:ea typeface="Consolas" pitchFamily="34" charset="-122"/>
                          <a:cs typeface="Consolas" pitchFamily="34" charset="-120"/>
                        </a:rPr>
                        <a:t>29%　admin・game・wallet・rank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後台告警/發卡/玩家管理、百家樂/歷史、鑽石/死信、每日排行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Wang Pitt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4E68"/>
                          </a:solidFill>
                          <a:latin typeface="Calibri" pitchFamily="34" charset="0"/>
                          <a:ea typeface="Consolas" pitchFamily="34" charset="-122"/>
                          <a:cs typeface="Consolas" pitchFamily="34" charset="-120"/>
                        </a:rPr>
                        <a:t>16%　member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好友社交（邀請/清單/刪除）、個資與社群綁定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A4E68"/>
                          </a:solidFill>
                          <a:latin typeface="Calibri" pitchFamily="34" charset="0"/>
                          <a:ea typeface="Consolas" pitchFamily="34" charset="-122"/>
                          <a:cs typeface="Consolas" pitchFamily="34" charset="-120"/>
                        </a:rPr>
                        <a:t>4%　rank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A4E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全球／好友排行查詢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58978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作者盤點含 gateway /fallback 內部端點，合計 73（較前述 REST 端點 72 多此 1 個內部端點）；Alex Chang／ALexChang1999／huang870306 三個 git 身分實為同一人，已合併計入 ALexChang1999。</a:t>
            </a:r>
            <a:pPr indent="0" marL="0">
              <a:lnSpc>
                <a:spcPct val="110000"/>
              </a:lnSpc>
              <a:buNone/>
            </a:pPr>
            <a:pPr indent="0" marL="0">
              <a:lnSpc>
                <a:spcPct val="110000"/>
              </a:lnSpc>
              <a:buNone/>
            </a:pPr>
            <a:pPr indent="0" marL="0">
              <a:lnSpc>
                <a:spcPct val="110000"/>
              </a:lnSpc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TAKEAWAYS・小結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72 個端點看到的設計紀律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097280" cy="4572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幸運星幣城｜API 盤點與分類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5394960" cy="1783080"/>
          </a:xfrm>
          <a:prstGeom prst="roundRect">
            <a:avLst>
              <a:gd name="adj" fmla="val 3077"/>
            </a:avLst>
          </a:prstGeom>
          <a:solidFill>
            <a:srgbClr val="F4F5F9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920240"/>
            <a:ext cx="100584" cy="17830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12140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一致的路徑規約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8680" y="2633472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玩家端統一 /api/v1/**、後台 /admin/**、服務間 /internal/**，看路徑即知權限邊界。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920240"/>
            <a:ext cx="5394960" cy="1783080"/>
          </a:xfrm>
          <a:prstGeom prst="roundRect">
            <a:avLst>
              <a:gd name="adj" fmla="val 3077"/>
            </a:avLst>
          </a:prstGeom>
          <a:solidFill>
            <a:srgbClr val="F4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0" y="1920240"/>
            <a:ext cx="100584" cy="17830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212140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CQRS 與帳務分離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633472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讀（balance/transactions）與寫（gift/debit/credit）分流；扣款入帳走內部 API 冪等保證。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5394960" cy="1783080"/>
          </a:xfrm>
          <a:prstGeom prst="roundRect">
            <a:avLst>
              <a:gd name="adj" fmla="val 3077"/>
            </a:avLst>
          </a:prstGeom>
          <a:solidFill>
            <a:srgbClr val="F4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3977640"/>
            <a:ext cx="100584" cy="17830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17880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查詢與命令分明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68680" y="4690872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6 個端點全為 GET 查詢；遊戲玩法多為 POST 命令（spin/bet/shots/settle）。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3977640"/>
            <a:ext cx="5394960" cy="1783080"/>
          </a:xfrm>
          <a:prstGeom prst="roundRect">
            <a:avLst>
              <a:gd name="adj" fmla="val 3077"/>
            </a:avLst>
          </a:prstGeom>
          <a:solidFill>
            <a:srgbClr val="F4F5F9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0" y="3977640"/>
            <a:ext cx="100584" cy="17830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17880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後台自成一套安全域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537960" y="4690872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獨立 ADMIN JWT，gateway 純轉發、由 admin-service 自身 Spring Security 授權。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附錄・API 貢獻明細（1/2）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ALexChang1999　·　37 支端點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097280" cy="4572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幸運星幣城｜API 盤點與分類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548640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POST   </a:t>
            </a:r>
            <a:r>
              <a:rPr sz="1000">
                <a:solidFill>
                  <a:srgbClr val="CADCFC"/>
                </a:solidFill>
                <a:latin typeface="Consolas"/>
              </a:rPr>
              <a:t>/admin/auth/login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GET    </a:t>
            </a:r>
            <a:r>
              <a:rPr sz="1000">
                <a:solidFill>
                  <a:srgbClr val="CADCFC"/>
                </a:solidFill>
                <a:latin typeface="Consolas"/>
              </a:rPr>
              <a:t>/admin/reports/coin-flow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GET    </a:t>
            </a:r>
            <a:r>
              <a:rPr sz="1000">
                <a:solidFill>
                  <a:srgbClr val="CADCFC"/>
                </a:solidFill>
                <a:latin typeface="Consolas"/>
              </a:rPr>
              <a:t>/admin/reports/rtp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POST   </a:t>
            </a:r>
            <a:r>
              <a:rPr sz="1000">
                <a:solidFill>
                  <a:srgbClr val="CADCFC"/>
                </a:solidFill>
                <a:latin typeface="Consolas"/>
              </a:rPr>
              <a:t>/admin/shop/items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PUT    </a:t>
            </a:r>
            <a:r>
              <a:rPr sz="1000">
                <a:solidFill>
                  <a:srgbClr val="CADCFC"/>
                </a:solidFill>
                <a:latin typeface="Consolas"/>
              </a:rPr>
              <a:t>/admin/shop/items/{id}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GET    </a:t>
            </a:r>
            <a:r>
              <a:rPr sz="1000">
                <a:solidFill>
                  <a:srgbClr val="CADCFC"/>
                </a:solidFill>
                <a:latin typeface="Consolas"/>
              </a:rPr>
              <a:t>/admin/shop/items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POST   </a:t>
            </a:r>
            <a:r>
              <a:rPr sz="1000">
                <a:solidFill>
                  <a:srgbClr val="CADCFC"/>
                </a:solidFill>
                <a:latin typeface="Consolas"/>
              </a:rPr>
              <a:t>/admin/gm/grant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POST   </a:t>
            </a:r>
            <a:r>
              <a:rPr sz="1000">
                <a:solidFill>
                  <a:srgbClr val="CADCFC"/>
                </a:solidFill>
                <a:latin typeface="Consolas"/>
              </a:rPr>
              <a:t>/api/v1/game/fishing/{sessionId}/shots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POST   </a:t>
            </a:r>
            <a:r>
              <a:rPr sz="1000">
                <a:solidFill>
                  <a:srgbClr val="CADCFC"/>
                </a:solidFill>
                <a:latin typeface="Consolas"/>
              </a:rPr>
              <a:t>/api/v1/game/fishing/{sessionId}/top-up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POST   </a:t>
            </a:r>
            <a:r>
              <a:rPr sz="1000">
                <a:solidFill>
                  <a:srgbClr val="CADCFC"/>
                </a:solidFill>
                <a:latin typeface="Consolas"/>
              </a:rPr>
              <a:t>/api/v1/game/fishing/{sessionId}/end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GET    </a:t>
            </a:r>
            <a:r>
              <a:rPr sz="1000">
                <a:solidFill>
                  <a:srgbClr val="CADCFC"/>
                </a:solidFill>
                <a:latin typeface="Consolas"/>
              </a:rPr>
              <a:t>/api/v1/game/fishing/{sessionId}/verify-shot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GET    </a:t>
            </a:r>
            <a:r>
              <a:rPr sz="1000">
                <a:solidFill>
                  <a:srgbClr val="CADCFC"/>
                </a:solidFill>
                <a:latin typeface="Consolas"/>
              </a:rPr>
              <a:t>/api/v1/game/rtp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POST   </a:t>
            </a:r>
            <a:r>
              <a:rPr sz="1000">
                <a:solidFill>
                  <a:srgbClr val="CADCFC"/>
                </a:solidFill>
                <a:latin typeface="Consolas"/>
              </a:rPr>
              <a:t>/api/v1/game/slot/spin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POST   </a:t>
            </a:r>
            <a:r>
              <a:rPr sz="1000">
                <a:solidFill>
                  <a:srgbClr val="CADCFC"/>
                </a:solidFill>
                <a:latin typeface="Consolas"/>
              </a:rPr>
              <a:t>/api/v1/game/slot/round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POST   </a:t>
            </a:r>
            <a:r>
              <a:rPr sz="1000">
                <a:solidFill>
                  <a:srgbClr val="CADCFC"/>
                </a:solidFill>
                <a:latin typeface="Consolas"/>
              </a:rPr>
              <a:t>/api/v1/game/slot/round/{roundId}/settle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GET    </a:t>
            </a:r>
            <a:r>
              <a:rPr sz="1000">
                <a:solidFill>
                  <a:srgbClr val="CADCFC"/>
                </a:solidFill>
                <a:latin typeface="Consolas"/>
              </a:rPr>
              <a:t>/api/v1/game/verify/{roundId}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ANY    </a:t>
            </a:r>
            <a:r>
              <a:rPr sz="1000">
                <a:solidFill>
                  <a:srgbClr val="CADCFC"/>
                </a:solidFill>
                <a:latin typeface="Consolas"/>
              </a:rPr>
              <a:t>/fallback/{service}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POST   </a:t>
            </a:r>
            <a:r>
              <a:rPr sz="1000">
                <a:solidFill>
                  <a:srgbClr val="CADCFC"/>
                </a:solidFill>
                <a:latin typeface="Consolas"/>
              </a:rPr>
              <a:t>/api/v1/auth/register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POST   </a:t>
            </a:r>
            <a:r>
              <a:rPr sz="1000">
                <a:solidFill>
                  <a:srgbClr val="CADCFC"/>
                </a:solidFill>
                <a:latin typeface="Consolas"/>
              </a:rPr>
              <a:t>/api/v1/auth/login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5778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POST   </a:t>
            </a:r>
            <a:r>
              <a:rPr sz="1000">
                <a:solidFill>
                  <a:srgbClr val="CADCFC"/>
                </a:solidFill>
                <a:latin typeface="Consolas"/>
              </a:rPr>
              <a:t>/api/v1/auth/logout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POST   </a:t>
            </a:r>
            <a:r>
              <a:rPr sz="1000">
                <a:solidFill>
                  <a:srgbClr val="CADCFC"/>
                </a:solidFill>
                <a:latin typeface="Consolas"/>
              </a:rPr>
              <a:t>/api/v1/auth/refresh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POST   </a:t>
            </a:r>
            <a:r>
              <a:rPr sz="1000">
                <a:solidFill>
                  <a:srgbClr val="CADCFC"/>
                </a:solidFill>
                <a:latin typeface="Consolas"/>
              </a:rPr>
              <a:t>/api/v1/wallet/daily-checkin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GET    </a:t>
            </a:r>
            <a:r>
              <a:rPr sz="1000">
                <a:solidFill>
                  <a:srgbClr val="CADCFC"/>
                </a:solidFill>
                <a:latin typeface="Consolas"/>
              </a:rPr>
              <a:t>/api/v1/wallet/checkin/status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POST   </a:t>
            </a:r>
            <a:r>
              <a:rPr sz="1000">
                <a:solidFill>
                  <a:srgbClr val="CADCFC"/>
                </a:solidFill>
                <a:latin typeface="Consolas"/>
              </a:rPr>
              <a:t>/api/v1/wallet/checkin/monthly-reward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POST   </a:t>
            </a:r>
            <a:r>
              <a:rPr sz="1000">
                <a:solidFill>
                  <a:srgbClr val="CADCFC"/>
                </a:solidFill>
                <a:latin typeface="Consolas"/>
              </a:rPr>
              <a:t>/internal/wallet/debit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POST   </a:t>
            </a:r>
            <a:r>
              <a:rPr sz="1000">
                <a:solidFill>
                  <a:srgbClr val="CADCFC"/>
                </a:solidFill>
                <a:latin typeface="Consolas"/>
              </a:rPr>
              <a:t>/internal/wallet/credit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GET    </a:t>
            </a:r>
            <a:r>
              <a:rPr sz="1000">
                <a:solidFill>
                  <a:srgbClr val="CADCFC"/>
                </a:solidFill>
                <a:latin typeface="Consolas"/>
              </a:rPr>
              <a:t>/api/v1/wallet/shop/catalog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POST   </a:t>
            </a:r>
            <a:r>
              <a:rPr sz="1000">
                <a:solidFill>
                  <a:srgbClr val="CADCFC"/>
                </a:solidFill>
                <a:latin typeface="Consolas"/>
              </a:rPr>
              <a:t>/api/v1/wallet/shop/redeem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GET    </a:t>
            </a:r>
            <a:r>
              <a:rPr sz="1000">
                <a:solidFill>
                  <a:srgbClr val="CADCFC"/>
                </a:solidFill>
                <a:latin typeface="Consolas"/>
              </a:rPr>
              <a:t>/api/v1/wallet/shop/inventory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GET    </a:t>
            </a:r>
            <a:r>
              <a:rPr sz="1000">
                <a:solidFill>
                  <a:srgbClr val="CADCFC"/>
                </a:solidFill>
                <a:latin typeface="Consolas"/>
              </a:rPr>
              <a:t>/api/v1/wallet/topup/packages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POST   </a:t>
            </a:r>
            <a:r>
              <a:rPr sz="1000">
                <a:solidFill>
                  <a:srgbClr val="CADCFC"/>
                </a:solidFill>
                <a:latin typeface="Consolas"/>
              </a:rPr>
              <a:t>/api/v1/wallet/topup/orders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POST   </a:t>
            </a:r>
            <a:r>
              <a:rPr sz="1000">
                <a:solidFill>
                  <a:srgbClr val="CADCFC"/>
                </a:solidFill>
                <a:latin typeface="Consolas"/>
              </a:rPr>
              <a:t>/api/v1/wallet/topup/orders/{id}/pay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GET    </a:t>
            </a:r>
            <a:r>
              <a:rPr sz="1000">
                <a:solidFill>
                  <a:srgbClr val="CADCFC"/>
                </a:solidFill>
                <a:latin typeface="Consolas"/>
              </a:rPr>
              <a:t>/api/v1/wallet/topup/orders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GET    </a:t>
            </a:r>
            <a:r>
              <a:rPr sz="1000">
                <a:solidFill>
                  <a:srgbClr val="CADCFC"/>
                </a:solidFill>
                <a:latin typeface="Consolas"/>
              </a:rPr>
              <a:t>/api/v1/wallet/balance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GET    </a:t>
            </a:r>
            <a:r>
              <a:rPr sz="1000">
                <a:solidFill>
                  <a:srgbClr val="CADCFC"/>
                </a:solidFill>
                <a:latin typeface="Consolas"/>
              </a:rPr>
              <a:t>/api/v1/wallet/transactions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POST   </a:t>
            </a:r>
            <a:r>
              <a:rPr sz="1000">
                <a:solidFill>
                  <a:srgbClr val="CADCFC"/>
                </a:solidFill>
                <a:latin typeface="Consolas"/>
              </a:rPr>
              <a:t>/api/v1/wallet/gift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POST   </a:t>
            </a:r>
            <a:r>
              <a:rPr sz="1000">
                <a:solidFill>
                  <a:srgbClr val="CADCFC"/>
                </a:solidFill>
                <a:latin typeface="Consolas"/>
              </a:rPr>
              <a:t>/api/v1/wallet/bankruptcy-aid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附錄・API 貢獻明細（2/2）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We1Yu · 21　｜　Wang Pitt · 12　｜　Rex · 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097280" cy="4572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幸運星幣城｜API 盤點與分類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548640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4C766"/>
                </a:solidFill>
                <a:latin typeface="Calibri"/>
              </a:rPr>
              <a:t>We1Yu　·　21 支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GET    </a:t>
            </a:r>
            <a:r>
              <a:rPr sz="1000">
                <a:solidFill>
                  <a:srgbClr val="CADCFC"/>
                </a:solidFill>
                <a:latin typeface="Consolas"/>
              </a:rPr>
              <a:t>/admin/alerts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PATCH  </a:t>
            </a:r>
            <a:r>
              <a:rPr sz="1000">
                <a:solidFill>
                  <a:srgbClr val="CADCFC"/>
                </a:solidFill>
                <a:latin typeface="Consolas"/>
              </a:rPr>
              <a:t>/admin/alerts/{alertId}/resolve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POST   </a:t>
            </a:r>
            <a:r>
              <a:rPr sz="1000">
                <a:solidFill>
                  <a:srgbClr val="CADCFC"/>
                </a:solidFill>
                <a:latin typeface="Consolas"/>
              </a:rPr>
              <a:t>/admin/diamond/cards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GET    </a:t>
            </a:r>
            <a:r>
              <a:rPr sz="1000">
                <a:solidFill>
                  <a:srgbClr val="CADCFC"/>
                </a:solidFill>
                <a:latin typeface="Consolas"/>
              </a:rPr>
              <a:t>/admin/diamond/cards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GET    </a:t>
            </a:r>
            <a:r>
              <a:rPr sz="1000">
                <a:solidFill>
                  <a:srgbClr val="CADCFC"/>
                </a:solidFill>
                <a:latin typeface="Consolas"/>
              </a:rPr>
              <a:t>/admin/players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GET    </a:t>
            </a:r>
            <a:r>
              <a:rPr sz="1000">
                <a:solidFill>
                  <a:srgbClr val="CADCFC"/>
                </a:solidFill>
                <a:latin typeface="Consolas"/>
              </a:rPr>
              <a:t>/admin/players/{playerId}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PATCH  </a:t>
            </a:r>
            <a:r>
              <a:rPr sz="1000">
                <a:solidFill>
                  <a:srgbClr val="CADCFC"/>
                </a:solidFill>
                <a:latin typeface="Consolas"/>
              </a:rPr>
              <a:t>/admin/players/{playerId}/status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POST   </a:t>
            </a:r>
            <a:r>
              <a:rPr sz="1000">
                <a:solidFill>
                  <a:srgbClr val="CADCFC"/>
                </a:solidFill>
                <a:latin typeface="Consolas"/>
              </a:rPr>
              <a:t>/api/v1/game/baccarat/bet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POST   </a:t>
            </a:r>
            <a:r>
              <a:rPr sz="1000">
                <a:solidFill>
                  <a:srgbClr val="CADCFC"/>
                </a:solidFill>
                <a:latin typeface="Consolas"/>
              </a:rPr>
              <a:t>/api/v1/game/baccarat/{roundId}/result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POST   </a:t>
            </a:r>
            <a:r>
              <a:rPr sz="1000">
                <a:solidFill>
                  <a:srgbClr val="CADCFC"/>
                </a:solidFill>
                <a:latin typeface="Consolas"/>
              </a:rPr>
              <a:t>/api/v1/game/fishing/session/start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GET    </a:t>
            </a:r>
            <a:r>
              <a:rPr sz="1000">
                <a:solidFill>
                  <a:srgbClr val="CADCFC"/>
                </a:solidFill>
                <a:latin typeface="Consolas"/>
              </a:rPr>
              <a:t>/api/v1/game/fishing/session/active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GET    </a:t>
            </a:r>
            <a:r>
              <a:rPr sz="1000">
                <a:solidFill>
                  <a:srgbClr val="CADCFC"/>
                </a:solidFill>
                <a:latin typeface="Consolas"/>
              </a:rPr>
              <a:t>/api/v1/game/history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PATCH  </a:t>
            </a:r>
            <a:r>
              <a:rPr sz="1000">
                <a:solidFill>
                  <a:srgbClr val="CADCFC"/>
                </a:solidFill>
                <a:latin typeface="Consolas"/>
              </a:rPr>
              <a:t>/internal/members/{memberId}/status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GET    </a:t>
            </a:r>
            <a:r>
              <a:rPr sz="1000">
                <a:solidFill>
                  <a:srgbClr val="CADCFC"/>
                </a:solidFill>
                <a:latin typeface="Consolas"/>
              </a:rPr>
              <a:t>/api/v1/rank/friends/me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GET    </a:t>
            </a:r>
            <a:r>
              <a:rPr sz="1000">
                <a:solidFill>
                  <a:srgbClr val="CADCFC"/>
                </a:solidFill>
                <a:latin typeface="Consolas"/>
              </a:rPr>
              <a:t>/api/v1/rank/daily/winnings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GET    </a:t>
            </a:r>
            <a:r>
              <a:rPr sz="1000">
                <a:solidFill>
                  <a:srgbClr val="CADCFC"/>
                </a:solidFill>
                <a:latin typeface="Consolas"/>
              </a:rPr>
              <a:t>/api/v1/rank/daily/winnings/me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GET    </a:t>
            </a:r>
            <a:r>
              <a:rPr sz="1000">
                <a:solidFill>
                  <a:srgbClr val="CADCFC"/>
                </a:solidFill>
                <a:latin typeface="Consolas"/>
              </a:rPr>
              <a:t>/internal/wallet/dlt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POST   </a:t>
            </a:r>
            <a:r>
              <a:rPr sz="1000">
                <a:solidFill>
                  <a:srgbClr val="CADCFC"/>
                </a:solidFill>
                <a:latin typeface="Consolas"/>
              </a:rPr>
              <a:t>/internal/wallet/dlt/{id}/retry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GET    </a:t>
            </a:r>
            <a:r>
              <a:rPr sz="1000">
                <a:solidFill>
                  <a:srgbClr val="CADCFC"/>
                </a:solidFill>
                <a:latin typeface="Consolas"/>
              </a:rPr>
              <a:t>/api/v1/wallet/diamond/balance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POST   </a:t>
            </a:r>
            <a:r>
              <a:rPr sz="1000">
                <a:solidFill>
                  <a:srgbClr val="CADCFC"/>
                </a:solidFill>
                <a:latin typeface="Consolas"/>
              </a:rPr>
              <a:t>/api/v1/wallet/diamond/redeem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POST   </a:t>
            </a:r>
            <a:r>
              <a:rPr sz="1000">
                <a:solidFill>
                  <a:srgbClr val="CADCFC"/>
                </a:solidFill>
                <a:latin typeface="Consolas"/>
              </a:rPr>
              <a:t>/api/v1/wallet/diamond/exchange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5778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4C766"/>
                </a:solidFill>
                <a:latin typeface="Calibri"/>
              </a:rPr>
              <a:t>Wang Pitt　·　12 支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POST   </a:t>
            </a:r>
            <a:r>
              <a:rPr sz="1000">
                <a:solidFill>
                  <a:srgbClr val="CADCFC"/>
                </a:solidFill>
                <a:latin typeface="Consolas"/>
              </a:rPr>
              <a:t>/api/v1/friends/request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PUT    </a:t>
            </a:r>
            <a:r>
              <a:rPr sz="1000">
                <a:solidFill>
                  <a:srgbClr val="CADCFC"/>
                </a:solidFill>
                <a:latin typeface="Consolas"/>
              </a:rPr>
              <a:t>/api/v1/friends/{friendshipId}/accept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PUT    </a:t>
            </a:r>
            <a:r>
              <a:rPr sz="1000">
                <a:solidFill>
                  <a:srgbClr val="CADCFC"/>
                </a:solidFill>
                <a:latin typeface="Consolas"/>
              </a:rPr>
              <a:t>/api/v1/friends/{friendshipId}/reject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GET    </a:t>
            </a:r>
            <a:r>
              <a:rPr sz="1000">
                <a:solidFill>
                  <a:srgbClr val="CADCFC"/>
                </a:solidFill>
                <a:latin typeface="Consolas"/>
              </a:rPr>
              <a:t>/api/v1/friends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GET    </a:t>
            </a:r>
            <a:r>
              <a:rPr sz="1000">
                <a:solidFill>
                  <a:srgbClr val="CADCFC"/>
                </a:solidFill>
                <a:latin typeface="Consolas"/>
              </a:rPr>
              <a:t>/api/v1/friends/requests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DELETE </a:t>
            </a:r>
            <a:r>
              <a:rPr sz="1000">
                <a:solidFill>
                  <a:srgbClr val="CADCFC"/>
                </a:solidFill>
                <a:latin typeface="Consolas"/>
              </a:rPr>
              <a:t>/api/v1/friends/{friendshipId}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GET    </a:t>
            </a:r>
            <a:r>
              <a:rPr sz="1000">
                <a:solidFill>
                  <a:srgbClr val="CADCFC"/>
                </a:solidFill>
                <a:latin typeface="Consolas"/>
              </a:rPr>
              <a:t>/api/v1/player/profile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PUT    </a:t>
            </a:r>
            <a:r>
              <a:rPr sz="1000">
                <a:solidFill>
                  <a:srgbClr val="CADCFC"/>
                </a:solidFill>
                <a:latin typeface="Consolas"/>
              </a:rPr>
              <a:t>/api/v1/player/profile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GET    </a:t>
            </a:r>
            <a:r>
              <a:rPr sz="1000">
                <a:solidFill>
                  <a:srgbClr val="CADCFC"/>
                </a:solidFill>
                <a:latin typeface="Consolas"/>
              </a:rPr>
              <a:t>/api/v1/player/social-bindings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POST   </a:t>
            </a:r>
            <a:r>
              <a:rPr sz="1000">
                <a:solidFill>
                  <a:srgbClr val="CADCFC"/>
                </a:solidFill>
                <a:latin typeface="Consolas"/>
              </a:rPr>
              <a:t>/api/v1/player/social-bindings/{provider}/start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POST   </a:t>
            </a:r>
            <a:r>
              <a:rPr sz="1000">
                <a:solidFill>
                  <a:srgbClr val="CADCFC"/>
                </a:solidFill>
                <a:latin typeface="Consolas"/>
              </a:rPr>
              <a:t>/api/v1/player/social-bindings/{provider}/complete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DELETE </a:t>
            </a:r>
            <a:r>
              <a:rPr sz="1000">
                <a:solidFill>
                  <a:srgbClr val="CADCFC"/>
                </a:solidFill>
                <a:latin typeface="Consolas"/>
              </a:rPr>
              <a:t>/api/v1/player/social-bindings/{provider}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</a:pPr>
            <a:r>
              <a:rPr sz="1300" b="1">
                <a:solidFill>
                  <a:srgbClr val="E4C766"/>
                </a:solidFill>
                <a:latin typeface="Calibri"/>
              </a:rPr>
              <a:t>Rex　·　3 支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GET    </a:t>
            </a:r>
            <a:r>
              <a:rPr sz="1000">
                <a:solidFill>
                  <a:srgbClr val="CADCFC"/>
                </a:solidFill>
                <a:latin typeface="Consolas"/>
              </a:rPr>
              <a:t>/api/v1/rank/global, /api/v1/rank/global/top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GET    </a:t>
            </a:r>
            <a:r>
              <a:rPr sz="1000">
                <a:solidFill>
                  <a:srgbClr val="CADCFC"/>
                </a:solidFill>
                <a:latin typeface="Consolas"/>
              </a:rPr>
              <a:t>/api/v1/rank/global/{playerId}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9A227"/>
                </a:solidFill>
                <a:latin typeface="Consolas"/>
              </a:rPr>
              <a:t>GET    </a:t>
            </a:r>
            <a:r>
              <a:rPr sz="1000">
                <a:solidFill>
                  <a:srgbClr val="CADCFC"/>
                </a:solidFill>
                <a:latin typeface="Consolas"/>
              </a:rPr>
              <a:t>/api/v1/rank/friends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Lucky Star Casino</dc:creator>
  <cp:lastModifiedBy>Lucky Star Casino</cp:lastModifiedBy>
  <cp:revision>1</cp:revision>
  <dcterms:created xsi:type="dcterms:W3CDTF">2026-07-24T06:30:59Z</dcterms:created>
  <dcterms:modified xsi:type="dcterms:W3CDTF">2026-07-24T06:30:59Z</dcterms:modified>
</cp:coreProperties>
</file>